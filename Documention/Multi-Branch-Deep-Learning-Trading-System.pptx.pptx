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17"/>
  </p:notesMasterIdLst>
  <p:sldIdLst>
    <p:sldId id="256" r:id="rId6"/>
    <p:sldId id="257" r:id="rId7"/>
    <p:sldId id="258" r:id="rId8"/>
    <p:sldId id="259" r:id="rId9"/>
    <p:sldId id="260" r:id="rId10"/>
    <p:sldId id="261" r:id="rId11"/>
    <p:sldId id="262" r:id="rId12"/>
    <p:sldId id="263" r:id="rId13"/>
    <p:sldId id="264" r:id="rId14"/>
    <p:sldId id="265" r:id="rId15"/>
    <p:sldId id="266" r:id="rId16"/>
  </p:sldIdLst>
  <p:sldSz cx="18288000" cy="10287000"/>
  <p:notesSz cx="6858000" cy="9144000"/>
  <p:embeddedFontLst>
    <p:embeddedFont>
      <p:font typeface="Arimo" charset="1" panose="020B0604020202020204"/>
      <p:regular r:id="rId20"/>
    </p:embeddedFont>
    <p:embeddedFont>
      <p:font typeface="Noto Sans" charset="1" panose="020B0502040504020204"/>
      <p:regular r:id="rId21"/>
    </p:embeddedFont>
    <p:embeddedFont>
      <p:font typeface="Noto Sans Bold" charset="1" panose="020B0802040504020204"/>
      <p:regular r:id="rId2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notesMasters/notesMaster1.xml" Type="http://schemas.openxmlformats.org/officeDocument/2006/relationships/notesMaster"/><Relationship Id="rId18" Target="theme/theme2.xml" Type="http://schemas.openxmlformats.org/officeDocument/2006/relationships/theme"/><Relationship Id="rId19" Target="notesSlides/notesSlide1.xml" Type="http://schemas.openxmlformats.org/officeDocument/2006/relationships/notesSlide"/><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23" Target="notesSlides/notesSlide2.xml" Type="http://schemas.openxmlformats.org/officeDocument/2006/relationships/notesSlide"/><Relationship Id="rId24" Target="notesSlides/notesSlide3.xml" Type="http://schemas.openxmlformats.org/officeDocument/2006/relationships/notesSlide"/><Relationship Id="rId25" Target="notesSlides/notesSlide4.xml" Type="http://schemas.openxmlformats.org/officeDocument/2006/relationships/notesSlide"/><Relationship Id="rId26" Target="notesSlides/notesSlide5.xml" Type="http://schemas.openxmlformats.org/officeDocument/2006/relationships/notesSlide"/><Relationship Id="rId27" Target="notesSlides/notesSlide6.xml" Type="http://schemas.openxmlformats.org/officeDocument/2006/relationships/notesSlide"/><Relationship Id="rId28" Target="notesSlides/notesSlide7.xml" Type="http://schemas.openxmlformats.org/officeDocument/2006/relationships/notesSlide"/><Relationship Id="rId29" Target="notesSlides/notesSlide8.xml" Type="http://schemas.openxmlformats.org/officeDocument/2006/relationships/notesSlide"/><Relationship Id="rId3" Target="viewProps.xml" Type="http://schemas.openxmlformats.org/officeDocument/2006/relationships/viewProps"/><Relationship Id="rId30" Target="notesSlides/notesSlide9.xml" Type="http://schemas.openxmlformats.org/officeDocument/2006/relationships/notesSlide"/><Relationship Id="rId31" Target="notesSlides/notesSlide10.xml" Type="http://schemas.openxmlformats.org/officeDocument/2006/relationships/notesSlide"/><Relationship Id="rId32" Target="notesSlides/notesSlide11.xml" Type="http://schemas.openxmlformats.org/officeDocument/2006/relationships/notesSlide"/><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4</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5</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6</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7</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8</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9</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10</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11</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png" Type="http://schemas.openxmlformats.org/officeDocument/2006/relationships/image"/><Relationship Id="rId4" Target="https://gamma.app/?utm_source=made-with-gamma" TargetMode="External" Type="http://schemas.openxmlformats.org/officeDocument/2006/relationships/hyperlink"/><Relationship Id="rId5" Target="../media/image2.png" Type="http://schemas.openxmlformats.org/officeDocument/2006/relationships/image"/><Relationship Id="rId6" Target="../media/image3.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1.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1.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1.png" Type="http://schemas.openxmlformats.org/officeDocument/2006/relationships/image"/><Relationship Id="rId4" Target="../media/image4.png" Type="http://schemas.openxmlformats.org/officeDocument/2006/relationships/image"/><Relationship Id="rId5" Target="../media/image5.png" Type="http://schemas.openxmlformats.org/officeDocument/2006/relationships/image"/><Relationship Id="rId6" Target="../media/image6.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1.png" Type="http://schemas.openxmlformats.org/officeDocument/2006/relationships/image"/><Relationship Id="rId4" Target="../media/image7.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1.png" Type="http://schemas.openxmlformats.org/officeDocument/2006/relationships/image"/><Relationship Id="rId4" Target="https://gamma.app/?utm_source=made-with-gamma" TargetMode="External" Type="http://schemas.openxmlformats.org/officeDocument/2006/relationships/hyperlink"/><Relationship Id="rId5" Target="../media/image2.png" Type="http://schemas.openxmlformats.org/officeDocument/2006/relationships/image"/><Relationship Id="rId6" Target="../media/image8.png" Type="http://schemas.openxmlformats.org/officeDocument/2006/relationships/image"/><Relationship Id="rId7" Target="../media/image9.png" Type="http://schemas.openxmlformats.org/officeDocument/2006/relationships/image"/><Relationship Id="rId8" Target="../media/image10.png" Type="http://schemas.openxmlformats.org/officeDocument/2006/relationships/image"/><Relationship Id="rId9" Target="../media/image11.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 Id="rId3" Target="../media/image1.png" Type="http://schemas.openxmlformats.org/officeDocument/2006/relationships/image"/><Relationship Id="rId4" Target="https://gamma.app/?utm_source=made-with-gamma" TargetMode="External" Type="http://schemas.openxmlformats.org/officeDocument/2006/relationships/hyperlink"/><Relationship Id="rId5" Target="../media/image2.png" Type="http://schemas.openxmlformats.org/officeDocument/2006/relationships/image"/><Relationship Id="rId6" Target="../media/image12.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9.png" Type="http://schemas.openxmlformats.org/officeDocument/2006/relationships/image"/><Relationship Id="rId11" Target="../media/image20.png" Type="http://schemas.openxmlformats.org/officeDocument/2006/relationships/image"/><Relationship Id="rId12" Target="../media/image21.svg" Type="http://schemas.openxmlformats.org/officeDocument/2006/relationships/image"/><Relationship Id="rId13" Target="../media/image22.png" Type="http://schemas.openxmlformats.org/officeDocument/2006/relationships/image"/><Relationship Id="rId14" Target="../media/image23.png" Type="http://schemas.openxmlformats.org/officeDocument/2006/relationships/image"/><Relationship Id="rId15" Target="../media/image24.svg" Type="http://schemas.openxmlformats.org/officeDocument/2006/relationships/image"/><Relationship Id="rId2" Target="../notesSlides/notesSlide8.xml" Type="http://schemas.openxmlformats.org/officeDocument/2006/relationships/notesSlide"/><Relationship Id="rId3" Target="../media/image1.png" Type="http://schemas.openxmlformats.org/officeDocument/2006/relationships/image"/><Relationship Id="rId4" Target="../media/image13.png" Type="http://schemas.openxmlformats.org/officeDocument/2006/relationships/image"/><Relationship Id="rId5" Target="../media/image14.png" Type="http://schemas.openxmlformats.org/officeDocument/2006/relationships/image"/><Relationship Id="rId6" Target="../media/image15.svg" Type="http://schemas.openxmlformats.org/officeDocument/2006/relationships/image"/><Relationship Id="rId7" Target="../media/image16.png" Type="http://schemas.openxmlformats.org/officeDocument/2006/relationships/image"/><Relationship Id="rId8" Target="../media/image17.png" Type="http://schemas.openxmlformats.org/officeDocument/2006/relationships/image"/><Relationship Id="rId9" Target="../media/image18.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 Id="rId3" Target="../media/image1.png" Type="http://schemas.openxmlformats.org/officeDocument/2006/relationships/image"/><Relationship Id="rId4" Target="../media/image25.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0.xml" Type="http://schemas.openxmlformats.org/officeDocument/2006/relationships/notesSlide"/><Relationship Id="rId3" Target="../media/image1.png" Type="http://schemas.openxmlformats.org/officeDocument/2006/relationships/image"/><Relationship Id="rId4" Target="../media/image26.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3.svg" Type="http://schemas.openxmlformats.org/officeDocument/2006/relationships/image"/><Relationship Id="rId11" Target="../media/image34.png" Type="http://schemas.openxmlformats.org/officeDocument/2006/relationships/image"/><Relationship Id="rId12" Target="../media/image35.png" Type="http://schemas.openxmlformats.org/officeDocument/2006/relationships/image"/><Relationship Id="rId13" Target="../media/image36.svg" Type="http://schemas.openxmlformats.org/officeDocument/2006/relationships/image"/><Relationship Id="rId2" Target="../notesSlides/notesSlide11.xml" Type="http://schemas.openxmlformats.org/officeDocument/2006/relationships/notesSlide"/><Relationship Id="rId3" Target="../media/image1.png" Type="http://schemas.openxmlformats.org/officeDocument/2006/relationships/image"/><Relationship Id="rId4" Target="../media/image27.png" Type="http://schemas.openxmlformats.org/officeDocument/2006/relationships/image"/><Relationship Id="rId5" Target="../media/image28.png" Type="http://schemas.openxmlformats.org/officeDocument/2006/relationships/image"/><Relationship Id="rId6" Target="../media/image29.png" Type="http://schemas.openxmlformats.org/officeDocument/2006/relationships/image"/><Relationship Id="rId7" Target="../media/image30.svg" Type="http://schemas.openxmlformats.org/officeDocument/2006/relationships/image"/><Relationship Id="rId8" Target="../media/image31.png" Type="http://schemas.openxmlformats.org/officeDocument/2006/relationships/image"/><Relationship Id="rId9" Target="../media/image32.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07070C"/>
            </a:solidFill>
          </p:spPr>
        </p:sp>
      </p:grpSp>
      <p:grpSp>
        <p:nvGrpSpPr>
          <p:cNvPr name="Group 6" id="6"/>
          <p:cNvGrpSpPr/>
          <p:nvPr/>
        </p:nvGrpSpPr>
        <p:grpSpPr>
          <a:xfrm rot="0">
            <a:off x="16049015" y="9686925"/>
            <a:ext cx="2153260" cy="514350"/>
            <a:chOff x="0" y="0"/>
            <a:chExt cx="2871013" cy="685800"/>
          </a:xfrm>
        </p:grpSpPr>
        <p:sp>
          <p:nvSpPr>
            <p:cNvPr name="Freeform 7" id="7" descr="preencoded.png">
              <a:hlinkClick r:id="rId4" tooltip="https://gamma.app/?utm_source=made-with-gamma"/>
            </p:cNvPr>
            <p:cNvSpPr/>
            <p:nvPr/>
          </p:nvSpPr>
          <p:spPr>
            <a:xfrm flipH="false" flipV="false" rot="0">
              <a:off x="0" y="0"/>
              <a:ext cx="2870962" cy="685800"/>
            </a:xfrm>
            <a:custGeom>
              <a:avLst/>
              <a:gdLst/>
              <a:ahLst/>
              <a:cxnLst/>
              <a:rect r="r" b="b" t="t" l="l"/>
              <a:pathLst>
                <a:path h="685800" w="2870962">
                  <a:moveTo>
                    <a:pt x="0" y="0"/>
                  </a:moveTo>
                  <a:lnTo>
                    <a:pt x="2870962" y="0"/>
                  </a:lnTo>
                  <a:lnTo>
                    <a:pt x="2870962" y="685800"/>
                  </a:lnTo>
                  <a:lnTo>
                    <a:pt x="0" y="685800"/>
                  </a:lnTo>
                  <a:lnTo>
                    <a:pt x="0" y="0"/>
                  </a:lnTo>
                  <a:close/>
                </a:path>
              </a:pathLst>
            </a:custGeom>
            <a:blipFill>
              <a:blip r:embed="rId5"/>
              <a:stretch>
                <a:fillRect l="0" t="0" r="-1" b="0"/>
              </a:stretch>
            </a:blipFill>
          </p:spPr>
        </p:sp>
      </p:grpSp>
      <p:grpSp>
        <p:nvGrpSpPr>
          <p:cNvPr name="Group 8" id="8"/>
          <p:cNvGrpSpPr/>
          <p:nvPr/>
        </p:nvGrpSpPr>
        <p:grpSpPr>
          <a:xfrm rot="0">
            <a:off x="11430000" y="0"/>
            <a:ext cx="6858000" cy="10287000"/>
            <a:chOff x="0" y="0"/>
            <a:chExt cx="9144000" cy="13716000"/>
          </a:xfrm>
        </p:grpSpPr>
        <p:sp>
          <p:nvSpPr>
            <p:cNvPr name="Freeform 9" id="9" descr="preencoded.png"/>
            <p:cNvSpPr/>
            <p:nvPr/>
          </p:nvSpPr>
          <p:spPr>
            <a:xfrm flipH="false" flipV="false" rot="0">
              <a:off x="0" y="0"/>
              <a:ext cx="9144000" cy="13716000"/>
            </a:xfrm>
            <a:custGeom>
              <a:avLst/>
              <a:gdLst/>
              <a:ahLst/>
              <a:cxnLst/>
              <a:rect r="r" b="b" t="t" l="l"/>
              <a:pathLst>
                <a:path h="13716000" w="9144000">
                  <a:moveTo>
                    <a:pt x="0" y="0"/>
                  </a:moveTo>
                  <a:lnTo>
                    <a:pt x="9144000" y="0"/>
                  </a:lnTo>
                  <a:lnTo>
                    <a:pt x="9144000" y="13716000"/>
                  </a:lnTo>
                  <a:lnTo>
                    <a:pt x="0" y="13716000"/>
                  </a:lnTo>
                  <a:lnTo>
                    <a:pt x="0" y="0"/>
                  </a:lnTo>
                  <a:close/>
                </a:path>
              </a:pathLst>
            </a:custGeom>
            <a:blipFill>
              <a:blip r:embed="rId6"/>
              <a:stretch>
                <a:fillRect l="0" t="0" r="0" b="0"/>
              </a:stretch>
            </a:blipFill>
          </p:spPr>
        </p:sp>
      </p:grpSp>
      <p:sp>
        <p:nvSpPr>
          <p:cNvPr name="TextBox 10" id="10"/>
          <p:cNvSpPr txBox="true"/>
          <p:nvPr/>
        </p:nvSpPr>
        <p:spPr>
          <a:xfrm rot="0">
            <a:off x="992238" y="2042370"/>
            <a:ext cx="9445523" cy="1829095"/>
          </a:xfrm>
          <a:prstGeom prst="rect">
            <a:avLst/>
          </a:prstGeom>
        </p:spPr>
        <p:txBody>
          <a:bodyPr anchor="t" rtlCol="false" tIns="0" lIns="0" bIns="0" rIns="0">
            <a:spAutoFit/>
          </a:bodyPr>
          <a:lstStyle/>
          <a:p>
            <a:pPr algn="l">
              <a:lnSpc>
                <a:spcPts val="6937"/>
              </a:lnSpc>
            </a:pPr>
            <a:r>
              <a:rPr lang="en-US" sz="5562">
                <a:solidFill>
                  <a:srgbClr val="97B8FF"/>
                </a:solidFill>
                <a:latin typeface="Arimo"/>
                <a:ea typeface="Arimo"/>
                <a:cs typeface="Arimo"/>
                <a:sym typeface="Arimo"/>
              </a:rPr>
              <a:t>Multi-Branch Deep Learning Trading System</a:t>
            </a:r>
          </a:p>
        </p:txBody>
      </p:sp>
      <p:sp>
        <p:nvSpPr>
          <p:cNvPr name="TextBox 11" id="11"/>
          <p:cNvSpPr txBox="true"/>
          <p:nvPr/>
        </p:nvSpPr>
        <p:spPr>
          <a:xfrm rot="0">
            <a:off x="992238" y="4210945"/>
            <a:ext cx="9445523" cy="992981"/>
          </a:xfrm>
          <a:prstGeom prst="rect">
            <a:avLst/>
          </a:prstGeom>
        </p:spPr>
        <p:txBody>
          <a:bodyPr anchor="t" rtlCol="false" tIns="0" lIns="0" bIns="0" rIns="0">
            <a:spAutoFit/>
          </a:bodyPr>
          <a:lstStyle/>
          <a:p>
            <a:pPr algn="l">
              <a:lnSpc>
                <a:spcPts val="3562"/>
              </a:lnSpc>
            </a:pPr>
            <a:r>
              <a:rPr lang="en-US" sz="2187">
                <a:solidFill>
                  <a:srgbClr val="E0D6DE"/>
                </a:solidFill>
                <a:latin typeface="Noto Sans"/>
                <a:ea typeface="Noto Sans"/>
                <a:cs typeface="Noto Sans"/>
                <a:sym typeface="Noto Sans"/>
              </a:rPr>
              <a:t>Institutional-grade architecture leveraging 2024-2025 IEEE research for quantitative trading</a:t>
            </a:r>
          </a:p>
        </p:txBody>
      </p:sp>
      <p:sp>
        <p:nvSpPr>
          <p:cNvPr name="TextBox 12" id="12"/>
          <p:cNvSpPr txBox="true"/>
          <p:nvPr/>
        </p:nvSpPr>
        <p:spPr>
          <a:xfrm rot="0">
            <a:off x="992238" y="5437137"/>
            <a:ext cx="9445523" cy="2750344"/>
          </a:xfrm>
          <a:prstGeom prst="rect">
            <a:avLst/>
          </a:prstGeom>
        </p:spPr>
        <p:txBody>
          <a:bodyPr anchor="t" rtlCol="false" tIns="0" lIns="0" bIns="0" rIns="0">
            <a:spAutoFit/>
          </a:bodyPr>
          <a:lstStyle/>
          <a:p>
            <a:pPr algn="l" marL="329902" indent="-164951" lvl="1">
              <a:lnSpc>
                <a:spcPts val="3562"/>
              </a:lnSpc>
              <a:buFont typeface="Arial"/>
              <a:buChar char="•"/>
            </a:pPr>
            <a:r>
              <a:rPr lang="en-US" sz="2187">
                <a:solidFill>
                  <a:srgbClr val="E0D6DE"/>
                </a:solidFill>
                <a:latin typeface="Noto Sans"/>
                <a:ea typeface="Noto Sans"/>
                <a:cs typeface="Noto Sans"/>
                <a:sym typeface="Noto Sans"/>
              </a:rPr>
              <a:t>Aryant Jadhav - 23101A0022</a:t>
            </a:r>
          </a:p>
          <a:p>
            <a:pPr algn="l" marL="329902" indent="-164951" lvl="1">
              <a:lnSpc>
                <a:spcPts val="3562"/>
              </a:lnSpc>
              <a:buFont typeface="Arial"/>
              <a:buChar char="•"/>
            </a:pPr>
            <a:r>
              <a:rPr lang="en-US" sz="2187">
                <a:solidFill>
                  <a:srgbClr val="E0D6DE"/>
                </a:solidFill>
                <a:latin typeface="Noto Sans"/>
                <a:ea typeface="Noto Sans"/>
                <a:cs typeface="Noto Sans"/>
                <a:sym typeface="Noto Sans"/>
              </a:rPr>
              <a:t>Kashyap Nathoo - 23101A0023</a:t>
            </a:r>
          </a:p>
          <a:p>
            <a:pPr algn="l" marL="329902" indent="-164951" lvl="1">
              <a:lnSpc>
                <a:spcPts val="3562"/>
              </a:lnSpc>
              <a:buFont typeface="Arial"/>
              <a:buChar char="•"/>
            </a:pPr>
            <a:r>
              <a:rPr lang="en-US" sz="2187">
                <a:solidFill>
                  <a:srgbClr val="E0D6DE"/>
                </a:solidFill>
                <a:latin typeface="Noto Sans"/>
                <a:ea typeface="Noto Sans"/>
                <a:cs typeface="Noto Sans"/>
                <a:sym typeface="Noto Sans"/>
              </a:rPr>
              <a:t>Devashree Pavle - 23101C0048</a:t>
            </a:r>
          </a:p>
          <a:p>
            <a:pPr algn="l" marL="329902" indent="-164951" lvl="1">
              <a:lnSpc>
                <a:spcPts val="3562"/>
              </a:lnSpc>
              <a:buFont typeface="Arial"/>
              <a:buChar char="•"/>
            </a:pPr>
            <a:r>
              <a:rPr lang="en-US" sz="2187">
                <a:solidFill>
                  <a:srgbClr val="E0D6DE"/>
                </a:solidFill>
                <a:latin typeface="Noto Sans"/>
                <a:ea typeface="Noto Sans"/>
                <a:cs typeface="Noto Sans"/>
                <a:sym typeface="Noto Sans"/>
              </a:rPr>
              <a:t>Gauri Kamble - 23101C0056</a:t>
            </a:r>
          </a:p>
          <a:p>
            <a:pPr algn="l" marL="329902" indent="-164951" lvl="1">
              <a:lnSpc>
                <a:spcPts val="3562"/>
              </a:lnSpc>
              <a:buFont typeface="Arial"/>
              <a:buChar char="•"/>
            </a:pPr>
            <a:r>
              <a:rPr lang="en-US" b="true" sz="2187">
                <a:solidFill>
                  <a:srgbClr val="E0D6DE"/>
                </a:solidFill>
                <a:latin typeface="Noto Sans Bold"/>
                <a:ea typeface="Noto Sans Bold"/>
                <a:cs typeface="Noto Sans Bold"/>
                <a:sym typeface="Noto Sans Bold"/>
              </a:rPr>
              <a:t>Dr. Rugved Deolekar -Project Guide</a:t>
            </a:r>
            <a:r>
              <a:rPr lang="en-US" sz="2187">
                <a:solidFill>
                  <a:srgbClr val="E0D6DE"/>
                </a:solidFill>
                <a:latin typeface="Noto Sans"/>
                <a:ea typeface="Noto Sans"/>
                <a:cs typeface="Noto Sans"/>
                <a:sym typeface="Noto Sans"/>
              </a:rPr>
              <a:t> </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07070C"/>
            </a:solidFill>
          </p:spPr>
        </p:sp>
      </p:grpSp>
      <p:sp>
        <p:nvSpPr>
          <p:cNvPr name="TextBox 6" id="6"/>
          <p:cNvSpPr txBox="true"/>
          <p:nvPr/>
        </p:nvSpPr>
        <p:spPr>
          <a:xfrm rot="0">
            <a:off x="992238" y="932859"/>
            <a:ext cx="7088238" cy="943127"/>
          </a:xfrm>
          <a:prstGeom prst="rect">
            <a:avLst/>
          </a:prstGeom>
        </p:spPr>
        <p:txBody>
          <a:bodyPr anchor="t" rtlCol="false" tIns="0" lIns="0" bIns="0" rIns="0">
            <a:spAutoFit/>
          </a:bodyPr>
          <a:lstStyle/>
          <a:p>
            <a:pPr algn="l">
              <a:lnSpc>
                <a:spcPts val="6937"/>
              </a:lnSpc>
            </a:pPr>
            <a:r>
              <a:rPr lang="en-US" sz="5562">
                <a:solidFill>
                  <a:srgbClr val="97B8FF"/>
                </a:solidFill>
                <a:latin typeface="Arimo"/>
                <a:ea typeface="Arimo"/>
                <a:cs typeface="Arimo"/>
                <a:sym typeface="Arimo"/>
              </a:rPr>
              <a:t>Abstract</a:t>
            </a:r>
          </a:p>
        </p:txBody>
      </p:sp>
      <p:sp>
        <p:nvSpPr>
          <p:cNvPr name="TextBox 7" id="7"/>
          <p:cNvSpPr txBox="true"/>
          <p:nvPr/>
        </p:nvSpPr>
        <p:spPr>
          <a:xfrm rot="0">
            <a:off x="992238" y="2357285"/>
            <a:ext cx="16303523" cy="1900237"/>
          </a:xfrm>
          <a:prstGeom prst="rect">
            <a:avLst/>
          </a:prstGeom>
        </p:spPr>
        <p:txBody>
          <a:bodyPr anchor="t" rtlCol="false" tIns="0" lIns="0" bIns="0" rIns="0">
            <a:spAutoFit/>
          </a:bodyPr>
          <a:lstStyle/>
          <a:p>
            <a:pPr algn="l">
              <a:lnSpc>
                <a:spcPts val="3562"/>
              </a:lnSpc>
            </a:pPr>
            <a:r>
              <a:rPr lang="en-US" sz="2187">
                <a:solidFill>
                  <a:srgbClr val="E0D6DE"/>
                </a:solidFill>
                <a:latin typeface="Noto Sans"/>
                <a:ea typeface="Noto Sans"/>
                <a:cs typeface="Noto Sans"/>
                <a:sym typeface="Noto Sans"/>
              </a:rPr>
              <a:t>This project presents a Multi-Branch Deep Learning Trading System designed to perform intelligent, data-driven financial market analysis and decision-making. The system integrates multiple specialized neural network models, each focusing on a distinct aspect of trading, including short-term execution, long-term forecasting, trend memory, inter-stock relationships, and market sentiment analysis.</a:t>
            </a:r>
          </a:p>
        </p:txBody>
      </p:sp>
      <p:sp>
        <p:nvSpPr>
          <p:cNvPr name="TextBox 8" id="8"/>
          <p:cNvSpPr txBox="true"/>
          <p:nvPr/>
        </p:nvSpPr>
        <p:spPr>
          <a:xfrm rot="0">
            <a:off x="992238" y="4490742"/>
            <a:ext cx="16303523" cy="1900237"/>
          </a:xfrm>
          <a:prstGeom prst="rect">
            <a:avLst/>
          </a:prstGeom>
        </p:spPr>
        <p:txBody>
          <a:bodyPr anchor="t" rtlCol="false" tIns="0" lIns="0" bIns="0" rIns="0">
            <a:spAutoFit/>
          </a:bodyPr>
          <a:lstStyle/>
          <a:p>
            <a:pPr algn="l">
              <a:lnSpc>
                <a:spcPts val="3562"/>
              </a:lnSpc>
            </a:pPr>
            <a:r>
              <a:rPr lang="en-US" sz="2187">
                <a:solidFill>
                  <a:srgbClr val="E0D6DE"/>
                </a:solidFill>
                <a:latin typeface="Noto Sans"/>
                <a:ea typeface="Noto Sans"/>
                <a:cs typeface="Noto Sans"/>
                <a:sym typeface="Noto Sans"/>
              </a:rPr>
              <a:t>By combining architectures such as CNN-LSTM with attention mechanisms, Temporal Fusion Transformers, Graph Neural Networks, and reinforcement learning-based sentiment models, the system is capable of processing diverse financial data sources simultaneously. It leverages advanced data engineering techniques like TFRecords optimization and Gramian Angular Field encoding to improve computational efficiency and model accuracy.</a:t>
            </a:r>
          </a:p>
        </p:txBody>
      </p:sp>
      <p:sp>
        <p:nvSpPr>
          <p:cNvPr name="TextBox 9" id="9"/>
          <p:cNvSpPr txBox="true"/>
          <p:nvPr/>
        </p:nvSpPr>
        <p:spPr>
          <a:xfrm rot="0">
            <a:off x="992238" y="6624190"/>
            <a:ext cx="16303523" cy="1446609"/>
          </a:xfrm>
          <a:prstGeom prst="rect">
            <a:avLst/>
          </a:prstGeom>
        </p:spPr>
        <p:txBody>
          <a:bodyPr anchor="t" rtlCol="false" tIns="0" lIns="0" bIns="0" rIns="0">
            <a:spAutoFit/>
          </a:bodyPr>
          <a:lstStyle/>
          <a:p>
            <a:pPr algn="l">
              <a:lnSpc>
                <a:spcPts val="3562"/>
              </a:lnSpc>
            </a:pPr>
            <a:r>
              <a:rPr lang="en-US" sz="2187">
                <a:solidFill>
                  <a:srgbClr val="E0D6DE"/>
                </a:solidFill>
                <a:latin typeface="Noto Sans"/>
                <a:ea typeface="Noto Sans"/>
                <a:cs typeface="Noto Sans"/>
                <a:sym typeface="Noto Sans"/>
              </a:rPr>
              <a:t>The multi-branch design enables the system to capture both micro-level patterns (like short-term price movements) and macro-level dynamics (such as sector correlations and market sentiment). Additionally, it incorporates uncertainty estimation and risk-aware decision-making to enhance trading reliability.</a:t>
            </a:r>
          </a:p>
        </p:txBody>
      </p:sp>
      <p:sp>
        <p:nvSpPr>
          <p:cNvPr name="TextBox 10" id="10"/>
          <p:cNvSpPr txBox="true"/>
          <p:nvPr/>
        </p:nvSpPr>
        <p:spPr>
          <a:xfrm rot="0">
            <a:off x="992238" y="8304009"/>
            <a:ext cx="16303523" cy="992981"/>
          </a:xfrm>
          <a:prstGeom prst="rect">
            <a:avLst/>
          </a:prstGeom>
        </p:spPr>
        <p:txBody>
          <a:bodyPr anchor="t" rtlCol="false" tIns="0" lIns="0" bIns="0" rIns="0">
            <a:spAutoFit/>
          </a:bodyPr>
          <a:lstStyle/>
          <a:p>
            <a:pPr algn="l">
              <a:lnSpc>
                <a:spcPts val="3562"/>
              </a:lnSpc>
            </a:pPr>
            <a:r>
              <a:rPr lang="en-US" sz="2187">
                <a:solidFill>
                  <a:srgbClr val="E0D6DE"/>
                </a:solidFill>
                <a:latin typeface="Noto Sans"/>
                <a:ea typeface="Noto Sans"/>
                <a:cs typeface="Noto Sans"/>
                <a:sym typeface="Noto Sans"/>
              </a:rPr>
              <a:t>Overall, the system aims to provide a scalable, high-performance, and intelligent framework for quantitative trading by combining predictive analytics, relational modeling, and real-time data processing.</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07070C"/>
            </a:solidFill>
          </p:spPr>
        </p:sp>
      </p:grpSp>
      <p:sp>
        <p:nvSpPr>
          <p:cNvPr name="TextBox 6" id="6"/>
          <p:cNvSpPr txBox="true"/>
          <p:nvPr/>
        </p:nvSpPr>
        <p:spPr>
          <a:xfrm rot="0">
            <a:off x="992238" y="1744418"/>
            <a:ext cx="12685366" cy="943127"/>
          </a:xfrm>
          <a:prstGeom prst="rect">
            <a:avLst/>
          </a:prstGeom>
        </p:spPr>
        <p:txBody>
          <a:bodyPr anchor="t" rtlCol="false" tIns="0" lIns="0" bIns="0" rIns="0">
            <a:spAutoFit/>
          </a:bodyPr>
          <a:lstStyle/>
          <a:p>
            <a:pPr algn="l">
              <a:lnSpc>
                <a:spcPts val="6937"/>
              </a:lnSpc>
            </a:pPr>
            <a:r>
              <a:rPr lang="en-US" sz="5562">
                <a:solidFill>
                  <a:srgbClr val="97B8FF"/>
                </a:solidFill>
                <a:latin typeface="Arimo"/>
                <a:ea typeface="Arimo"/>
                <a:cs typeface="Arimo"/>
                <a:sym typeface="Arimo"/>
              </a:rPr>
              <a:t>Five-Branch Architecture Overview</a:t>
            </a:r>
          </a:p>
        </p:txBody>
      </p:sp>
      <p:sp>
        <p:nvSpPr>
          <p:cNvPr name="TextBox 7" id="7"/>
          <p:cNvSpPr txBox="true"/>
          <p:nvPr/>
        </p:nvSpPr>
        <p:spPr>
          <a:xfrm rot="0">
            <a:off x="992238" y="3168853"/>
            <a:ext cx="16303523" cy="1446609"/>
          </a:xfrm>
          <a:prstGeom prst="rect">
            <a:avLst/>
          </a:prstGeom>
        </p:spPr>
        <p:txBody>
          <a:bodyPr anchor="t" rtlCol="false" tIns="0" lIns="0" bIns="0" rIns="0">
            <a:spAutoFit/>
          </a:bodyPr>
          <a:lstStyle/>
          <a:p>
            <a:pPr algn="l">
              <a:lnSpc>
                <a:spcPts val="3562"/>
              </a:lnSpc>
            </a:pPr>
            <a:r>
              <a:rPr lang="en-US" sz="2187">
                <a:solidFill>
                  <a:srgbClr val="E0D6DE"/>
                </a:solidFill>
                <a:latin typeface="Noto Sans"/>
                <a:ea typeface="Noto Sans"/>
                <a:cs typeface="Noto Sans"/>
                <a:sym typeface="Noto Sans"/>
              </a:rPr>
              <a:t>Our integrated system combines specialized neural network architectures, each engineered for distinct trading functions—from tactical execution to risk management. This multi-branch approach enables simultaneous processing of diverse market signals.</a:t>
            </a:r>
          </a:p>
        </p:txBody>
      </p:sp>
      <p:grpSp>
        <p:nvGrpSpPr>
          <p:cNvPr name="Group 8" id="8"/>
          <p:cNvGrpSpPr/>
          <p:nvPr/>
        </p:nvGrpSpPr>
        <p:grpSpPr>
          <a:xfrm rot="0">
            <a:off x="992238" y="4934398"/>
            <a:ext cx="5245446" cy="1633690"/>
            <a:chOff x="0" y="0"/>
            <a:chExt cx="6993928" cy="2178253"/>
          </a:xfrm>
        </p:grpSpPr>
        <p:sp>
          <p:nvSpPr>
            <p:cNvPr name="Freeform 9" id="9"/>
            <p:cNvSpPr/>
            <p:nvPr/>
          </p:nvSpPr>
          <p:spPr>
            <a:xfrm flipH="false" flipV="false" rot="0">
              <a:off x="0" y="0"/>
              <a:ext cx="6993890" cy="2178177"/>
            </a:xfrm>
            <a:custGeom>
              <a:avLst/>
              <a:gdLst/>
              <a:ahLst/>
              <a:cxnLst/>
              <a:rect r="r" b="b" t="t" l="l"/>
              <a:pathLst>
                <a:path h="2178177" w="6993890">
                  <a:moveTo>
                    <a:pt x="0" y="56642"/>
                  </a:moveTo>
                  <a:cubicBezTo>
                    <a:pt x="0" y="25400"/>
                    <a:pt x="25400" y="0"/>
                    <a:pt x="56642" y="0"/>
                  </a:cubicBezTo>
                  <a:lnTo>
                    <a:pt x="6937248" y="0"/>
                  </a:lnTo>
                  <a:cubicBezTo>
                    <a:pt x="6968617" y="0"/>
                    <a:pt x="6993890" y="25400"/>
                    <a:pt x="6993890" y="56642"/>
                  </a:cubicBezTo>
                  <a:lnTo>
                    <a:pt x="6993890" y="2121535"/>
                  </a:lnTo>
                  <a:cubicBezTo>
                    <a:pt x="6993890" y="2152904"/>
                    <a:pt x="6968490" y="2178177"/>
                    <a:pt x="6937248" y="2178177"/>
                  </a:cubicBezTo>
                  <a:lnTo>
                    <a:pt x="56642" y="2178177"/>
                  </a:lnTo>
                  <a:cubicBezTo>
                    <a:pt x="25273" y="2178177"/>
                    <a:pt x="0" y="2152777"/>
                    <a:pt x="0" y="2121535"/>
                  </a:cubicBezTo>
                  <a:close/>
                </a:path>
              </a:pathLst>
            </a:custGeom>
            <a:solidFill>
              <a:srgbClr val="26262B"/>
            </a:solidFill>
          </p:spPr>
        </p:sp>
      </p:grpSp>
      <p:sp>
        <p:nvSpPr>
          <p:cNvPr name="TextBox 10" id="10"/>
          <p:cNvSpPr txBox="true"/>
          <p:nvPr/>
        </p:nvSpPr>
        <p:spPr>
          <a:xfrm rot="0">
            <a:off x="1275759" y="5179809"/>
            <a:ext cx="3544043" cy="481012"/>
          </a:xfrm>
          <a:prstGeom prst="rect">
            <a:avLst/>
          </a:prstGeom>
        </p:spPr>
        <p:txBody>
          <a:bodyPr anchor="t" rtlCol="false" tIns="0" lIns="0" bIns="0" rIns="0">
            <a:spAutoFit/>
          </a:bodyPr>
          <a:lstStyle/>
          <a:p>
            <a:pPr algn="l">
              <a:lnSpc>
                <a:spcPts val="3437"/>
              </a:lnSpc>
            </a:pPr>
            <a:r>
              <a:rPr lang="en-US" sz="2750">
                <a:solidFill>
                  <a:srgbClr val="E0D6DE"/>
                </a:solidFill>
                <a:latin typeface="Arimo"/>
                <a:ea typeface="Arimo"/>
                <a:cs typeface="Arimo"/>
                <a:sym typeface="Arimo"/>
              </a:rPr>
              <a:t>Branch A: Tactical</a:t>
            </a:r>
          </a:p>
        </p:txBody>
      </p:sp>
      <p:sp>
        <p:nvSpPr>
          <p:cNvPr name="TextBox 11" id="11"/>
          <p:cNvSpPr txBox="true"/>
          <p:nvPr/>
        </p:nvSpPr>
        <p:spPr>
          <a:xfrm rot="0">
            <a:off x="1275759" y="5745213"/>
            <a:ext cx="4678413" cy="539353"/>
          </a:xfrm>
          <a:prstGeom prst="rect">
            <a:avLst/>
          </a:prstGeom>
        </p:spPr>
        <p:txBody>
          <a:bodyPr anchor="t" rtlCol="false" tIns="0" lIns="0" bIns="0" rIns="0">
            <a:spAutoFit/>
          </a:bodyPr>
          <a:lstStyle/>
          <a:p>
            <a:pPr algn="l">
              <a:lnSpc>
                <a:spcPts val="3562"/>
              </a:lnSpc>
            </a:pPr>
            <a:r>
              <a:rPr lang="en-US" sz="2187">
                <a:solidFill>
                  <a:srgbClr val="E0D6DE"/>
                </a:solidFill>
                <a:latin typeface="Noto Sans"/>
                <a:ea typeface="Noto Sans"/>
                <a:cs typeface="Noto Sans"/>
                <a:sym typeface="Noto Sans"/>
              </a:rPr>
              <a:t>Short-term execution via HCLA</a:t>
            </a:r>
          </a:p>
        </p:txBody>
      </p:sp>
      <p:grpSp>
        <p:nvGrpSpPr>
          <p:cNvPr name="Group 12" id="12"/>
          <p:cNvGrpSpPr/>
          <p:nvPr/>
        </p:nvGrpSpPr>
        <p:grpSpPr>
          <a:xfrm rot="0">
            <a:off x="6521206" y="4934398"/>
            <a:ext cx="5245446" cy="1633690"/>
            <a:chOff x="0" y="0"/>
            <a:chExt cx="6993928" cy="2178253"/>
          </a:xfrm>
        </p:grpSpPr>
        <p:sp>
          <p:nvSpPr>
            <p:cNvPr name="Freeform 13" id="13"/>
            <p:cNvSpPr/>
            <p:nvPr/>
          </p:nvSpPr>
          <p:spPr>
            <a:xfrm flipH="false" flipV="false" rot="0">
              <a:off x="0" y="0"/>
              <a:ext cx="6993890" cy="2178177"/>
            </a:xfrm>
            <a:custGeom>
              <a:avLst/>
              <a:gdLst/>
              <a:ahLst/>
              <a:cxnLst/>
              <a:rect r="r" b="b" t="t" l="l"/>
              <a:pathLst>
                <a:path h="2178177" w="6993890">
                  <a:moveTo>
                    <a:pt x="0" y="56642"/>
                  </a:moveTo>
                  <a:cubicBezTo>
                    <a:pt x="0" y="25400"/>
                    <a:pt x="25400" y="0"/>
                    <a:pt x="56642" y="0"/>
                  </a:cubicBezTo>
                  <a:lnTo>
                    <a:pt x="6937248" y="0"/>
                  </a:lnTo>
                  <a:cubicBezTo>
                    <a:pt x="6968617" y="0"/>
                    <a:pt x="6993890" y="25400"/>
                    <a:pt x="6993890" y="56642"/>
                  </a:cubicBezTo>
                  <a:lnTo>
                    <a:pt x="6993890" y="2121535"/>
                  </a:lnTo>
                  <a:cubicBezTo>
                    <a:pt x="6993890" y="2152904"/>
                    <a:pt x="6968490" y="2178177"/>
                    <a:pt x="6937248" y="2178177"/>
                  </a:cubicBezTo>
                  <a:lnTo>
                    <a:pt x="56642" y="2178177"/>
                  </a:lnTo>
                  <a:cubicBezTo>
                    <a:pt x="25273" y="2178177"/>
                    <a:pt x="0" y="2152777"/>
                    <a:pt x="0" y="2121535"/>
                  </a:cubicBezTo>
                  <a:close/>
                </a:path>
              </a:pathLst>
            </a:custGeom>
            <a:solidFill>
              <a:srgbClr val="26262B"/>
            </a:solidFill>
          </p:spPr>
        </p:sp>
      </p:grpSp>
      <p:sp>
        <p:nvSpPr>
          <p:cNvPr name="TextBox 14" id="14"/>
          <p:cNvSpPr txBox="true"/>
          <p:nvPr/>
        </p:nvSpPr>
        <p:spPr>
          <a:xfrm rot="0">
            <a:off x="6804717" y="5179809"/>
            <a:ext cx="3544043" cy="481012"/>
          </a:xfrm>
          <a:prstGeom prst="rect">
            <a:avLst/>
          </a:prstGeom>
        </p:spPr>
        <p:txBody>
          <a:bodyPr anchor="t" rtlCol="false" tIns="0" lIns="0" bIns="0" rIns="0">
            <a:spAutoFit/>
          </a:bodyPr>
          <a:lstStyle/>
          <a:p>
            <a:pPr algn="l">
              <a:lnSpc>
                <a:spcPts val="3437"/>
              </a:lnSpc>
            </a:pPr>
            <a:r>
              <a:rPr lang="en-US" sz="2750">
                <a:solidFill>
                  <a:srgbClr val="E0D6DE"/>
                </a:solidFill>
                <a:latin typeface="Arimo"/>
                <a:ea typeface="Arimo"/>
                <a:cs typeface="Arimo"/>
                <a:sym typeface="Arimo"/>
              </a:rPr>
              <a:t>Branch B: Strategic</a:t>
            </a:r>
          </a:p>
        </p:txBody>
      </p:sp>
      <p:sp>
        <p:nvSpPr>
          <p:cNvPr name="TextBox 15" id="15"/>
          <p:cNvSpPr txBox="true"/>
          <p:nvPr/>
        </p:nvSpPr>
        <p:spPr>
          <a:xfrm rot="0">
            <a:off x="6804717" y="5745213"/>
            <a:ext cx="4678413" cy="539353"/>
          </a:xfrm>
          <a:prstGeom prst="rect">
            <a:avLst/>
          </a:prstGeom>
        </p:spPr>
        <p:txBody>
          <a:bodyPr anchor="t" rtlCol="false" tIns="0" lIns="0" bIns="0" rIns="0">
            <a:spAutoFit/>
          </a:bodyPr>
          <a:lstStyle/>
          <a:p>
            <a:pPr algn="l">
              <a:lnSpc>
                <a:spcPts val="3562"/>
              </a:lnSpc>
            </a:pPr>
            <a:r>
              <a:rPr lang="en-US" sz="2187">
                <a:solidFill>
                  <a:srgbClr val="E0D6DE"/>
                </a:solidFill>
                <a:latin typeface="Noto Sans"/>
                <a:ea typeface="Noto Sans"/>
                <a:cs typeface="Noto Sans"/>
                <a:sym typeface="Noto Sans"/>
              </a:rPr>
              <a:t>Context &amp; forecasting with TFT</a:t>
            </a:r>
          </a:p>
        </p:txBody>
      </p:sp>
      <p:grpSp>
        <p:nvGrpSpPr>
          <p:cNvPr name="Group 16" id="16"/>
          <p:cNvGrpSpPr/>
          <p:nvPr/>
        </p:nvGrpSpPr>
        <p:grpSpPr>
          <a:xfrm rot="0">
            <a:off x="12050163" y="4934398"/>
            <a:ext cx="5245446" cy="1633690"/>
            <a:chOff x="0" y="0"/>
            <a:chExt cx="6993928" cy="2178253"/>
          </a:xfrm>
        </p:grpSpPr>
        <p:sp>
          <p:nvSpPr>
            <p:cNvPr name="Freeform 17" id="17"/>
            <p:cNvSpPr/>
            <p:nvPr/>
          </p:nvSpPr>
          <p:spPr>
            <a:xfrm flipH="false" flipV="false" rot="0">
              <a:off x="0" y="0"/>
              <a:ext cx="6993890" cy="2178177"/>
            </a:xfrm>
            <a:custGeom>
              <a:avLst/>
              <a:gdLst/>
              <a:ahLst/>
              <a:cxnLst/>
              <a:rect r="r" b="b" t="t" l="l"/>
              <a:pathLst>
                <a:path h="2178177" w="6993890">
                  <a:moveTo>
                    <a:pt x="0" y="56642"/>
                  </a:moveTo>
                  <a:cubicBezTo>
                    <a:pt x="0" y="25400"/>
                    <a:pt x="25400" y="0"/>
                    <a:pt x="56642" y="0"/>
                  </a:cubicBezTo>
                  <a:lnTo>
                    <a:pt x="6937248" y="0"/>
                  </a:lnTo>
                  <a:cubicBezTo>
                    <a:pt x="6968617" y="0"/>
                    <a:pt x="6993890" y="25400"/>
                    <a:pt x="6993890" y="56642"/>
                  </a:cubicBezTo>
                  <a:lnTo>
                    <a:pt x="6993890" y="2121535"/>
                  </a:lnTo>
                  <a:cubicBezTo>
                    <a:pt x="6993890" y="2152904"/>
                    <a:pt x="6968490" y="2178177"/>
                    <a:pt x="6937248" y="2178177"/>
                  </a:cubicBezTo>
                  <a:lnTo>
                    <a:pt x="56642" y="2178177"/>
                  </a:lnTo>
                  <a:cubicBezTo>
                    <a:pt x="25273" y="2178177"/>
                    <a:pt x="0" y="2152777"/>
                    <a:pt x="0" y="2121535"/>
                  </a:cubicBezTo>
                  <a:close/>
                </a:path>
              </a:pathLst>
            </a:custGeom>
            <a:solidFill>
              <a:srgbClr val="26262B"/>
            </a:solidFill>
          </p:spPr>
        </p:sp>
      </p:grpSp>
      <p:sp>
        <p:nvSpPr>
          <p:cNvPr name="TextBox 18" id="18"/>
          <p:cNvSpPr txBox="true"/>
          <p:nvPr/>
        </p:nvSpPr>
        <p:spPr>
          <a:xfrm rot="0">
            <a:off x="12333684" y="5179809"/>
            <a:ext cx="3544043" cy="481012"/>
          </a:xfrm>
          <a:prstGeom prst="rect">
            <a:avLst/>
          </a:prstGeom>
        </p:spPr>
        <p:txBody>
          <a:bodyPr anchor="t" rtlCol="false" tIns="0" lIns="0" bIns="0" rIns="0">
            <a:spAutoFit/>
          </a:bodyPr>
          <a:lstStyle/>
          <a:p>
            <a:pPr algn="l">
              <a:lnSpc>
                <a:spcPts val="3437"/>
              </a:lnSpc>
            </a:pPr>
            <a:r>
              <a:rPr lang="en-US" sz="2750">
                <a:solidFill>
                  <a:srgbClr val="E0D6DE"/>
                </a:solidFill>
                <a:latin typeface="Arimo"/>
                <a:ea typeface="Arimo"/>
                <a:cs typeface="Arimo"/>
                <a:sym typeface="Arimo"/>
              </a:rPr>
              <a:t>Branch C: Memory</a:t>
            </a:r>
          </a:p>
        </p:txBody>
      </p:sp>
      <p:sp>
        <p:nvSpPr>
          <p:cNvPr name="TextBox 19" id="19"/>
          <p:cNvSpPr txBox="true"/>
          <p:nvPr/>
        </p:nvSpPr>
        <p:spPr>
          <a:xfrm rot="0">
            <a:off x="12333684" y="5745213"/>
            <a:ext cx="4678413" cy="539353"/>
          </a:xfrm>
          <a:prstGeom prst="rect">
            <a:avLst/>
          </a:prstGeom>
        </p:spPr>
        <p:txBody>
          <a:bodyPr anchor="t" rtlCol="false" tIns="0" lIns="0" bIns="0" rIns="0">
            <a:spAutoFit/>
          </a:bodyPr>
          <a:lstStyle/>
          <a:p>
            <a:pPr algn="l">
              <a:lnSpc>
                <a:spcPts val="3562"/>
              </a:lnSpc>
            </a:pPr>
            <a:r>
              <a:rPr lang="en-US" sz="2187">
                <a:solidFill>
                  <a:srgbClr val="E0D6DE"/>
                </a:solidFill>
                <a:latin typeface="Noto Sans"/>
                <a:ea typeface="Noto Sans"/>
                <a:cs typeface="Noto Sans"/>
                <a:sym typeface="Noto Sans"/>
              </a:rPr>
              <a:t>Long-term trend analysis</a:t>
            </a:r>
          </a:p>
        </p:txBody>
      </p:sp>
      <p:grpSp>
        <p:nvGrpSpPr>
          <p:cNvPr name="Group 20" id="20"/>
          <p:cNvGrpSpPr/>
          <p:nvPr/>
        </p:nvGrpSpPr>
        <p:grpSpPr>
          <a:xfrm rot="0">
            <a:off x="992238" y="6851599"/>
            <a:ext cx="8009934" cy="1633690"/>
            <a:chOff x="0" y="0"/>
            <a:chExt cx="10679913" cy="2178253"/>
          </a:xfrm>
        </p:grpSpPr>
        <p:sp>
          <p:nvSpPr>
            <p:cNvPr name="Freeform 21" id="21"/>
            <p:cNvSpPr/>
            <p:nvPr/>
          </p:nvSpPr>
          <p:spPr>
            <a:xfrm flipH="false" flipV="false" rot="0">
              <a:off x="0" y="0"/>
              <a:ext cx="10679811" cy="2178177"/>
            </a:xfrm>
            <a:custGeom>
              <a:avLst/>
              <a:gdLst/>
              <a:ahLst/>
              <a:cxnLst/>
              <a:rect r="r" b="b" t="t" l="l"/>
              <a:pathLst>
                <a:path h="2178177" w="10679811">
                  <a:moveTo>
                    <a:pt x="0" y="56642"/>
                  </a:moveTo>
                  <a:cubicBezTo>
                    <a:pt x="0" y="25400"/>
                    <a:pt x="25400" y="0"/>
                    <a:pt x="56642" y="0"/>
                  </a:cubicBezTo>
                  <a:lnTo>
                    <a:pt x="10623169" y="0"/>
                  </a:lnTo>
                  <a:cubicBezTo>
                    <a:pt x="10654537" y="0"/>
                    <a:pt x="10679811" y="25400"/>
                    <a:pt x="10679811" y="56642"/>
                  </a:cubicBezTo>
                  <a:lnTo>
                    <a:pt x="10679811" y="2121535"/>
                  </a:lnTo>
                  <a:cubicBezTo>
                    <a:pt x="10679811" y="2152904"/>
                    <a:pt x="10654411" y="2178177"/>
                    <a:pt x="10623169" y="2178177"/>
                  </a:cubicBezTo>
                  <a:lnTo>
                    <a:pt x="56642" y="2178177"/>
                  </a:lnTo>
                  <a:cubicBezTo>
                    <a:pt x="25273" y="2178177"/>
                    <a:pt x="0" y="2152777"/>
                    <a:pt x="0" y="2121535"/>
                  </a:cubicBezTo>
                  <a:close/>
                </a:path>
              </a:pathLst>
            </a:custGeom>
            <a:solidFill>
              <a:srgbClr val="26262B"/>
            </a:solidFill>
          </p:spPr>
        </p:sp>
      </p:grpSp>
      <p:sp>
        <p:nvSpPr>
          <p:cNvPr name="TextBox 22" id="22"/>
          <p:cNvSpPr txBox="true"/>
          <p:nvPr/>
        </p:nvSpPr>
        <p:spPr>
          <a:xfrm rot="0">
            <a:off x="1275759" y="7097020"/>
            <a:ext cx="3616223" cy="481012"/>
          </a:xfrm>
          <a:prstGeom prst="rect">
            <a:avLst/>
          </a:prstGeom>
        </p:spPr>
        <p:txBody>
          <a:bodyPr anchor="t" rtlCol="false" tIns="0" lIns="0" bIns="0" rIns="0">
            <a:spAutoFit/>
          </a:bodyPr>
          <a:lstStyle/>
          <a:p>
            <a:pPr algn="l">
              <a:lnSpc>
                <a:spcPts val="3437"/>
              </a:lnSpc>
            </a:pPr>
            <a:r>
              <a:rPr lang="en-US" sz="2750">
                <a:solidFill>
                  <a:srgbClr val="E0D6DE"/>
                </a:solidFill>
                <a:latin typeface="Arimo"/>
                <a:ea typeface="Arimo"/>
                <a:cs typeface="Arimo"/>
                <a:sym typeface="Arimo"/>
              </a:rPr>
              <a:t>Branch D: Relational</a:t>
            </a:r>
          </a:p>
        </p:txBody>
      </p:sp>
      <p:sp>
        <p:nvSpPr>
          <p:cNvPr name="TextBox 23" id="23"/>
          <p:cNvSpPr txBox="true"/>
          <p:nvPr/>
        </p:nvSpPr>
        <p:spPr>
          <a:xfrm rot="0">
            <a:off x="1275759" y="7662415"/>
            <a:ext cx="7442892" cy="539353"/>
          </a:xfrm>
          <a:prstGeom prst="rect">
            <a:avLst/>
          </a:prstGeom>
        </p:spPr>
        <p:txBody>
          <a:bodyPr anchor="t" rtlCol="false" tIns="0" lIns="0" bIns="0" rIns="0">
            <a:spAutoFit/>
          </a:bodyPr>
          <a:lstStyle/>
          <a:p>
            <a:pPr algn="l">
              <a:lnSpc>
                <a:spcPts val="3562"/>
              </a:lnSpc>
            </a:pPr>
            <a:r>
              <a:rPr lang="en-US" sz="2187">
                <a:solidFill>
                  <a:srgbClr val="E0D6DE"/>
                </a:solidFill>
                <a:latin typeface="Noto Sans"/>
                <a:ea typeface="Noto Sans"/>
                <a:cs typeface="Noto Sans"/>
                <a:sym typeface="Noto Sans"/>
              </a:rPr>
              <a:t>Sector correlation networks</a:t>
            </a:r>
          </a:p>
        </p:txBody>
      </p:sp>
      <p:grpSp>
        <p:nvGrpSpPr>
          <p:cNvPr name="Group 24" id="24"/>
          <p:cNvGrpSpPr/>
          <p:nvPr/>
        </p:nvGrpSpPr>
        <p:grpSpPr>
          <a:xfrm rot="0">
            <a:off x="9285684" y="6851599"/>
            <a:ext cx="8009934" cy="1633690"/>
            <a:chOff x="0" y="0"/>
            <a:chExt cx="10679913" cy="2178253"/>
          </a:xfrm>
        </p:grpSpPr>
        <p:sp>
          <p:nvSpPr>
            <p:cNvPr name="Freeform 25" id="25"/>
            <p:cNvSpPr/>
            <p:nvPr/>
          </p:nvSpPr>
          <p:spPr>
            <a:xfrm flipH="false" flipV="false" rot="0">
              <a:off x="0" y="0"/>
              <a:ext cx="10679811" cy="2178177"/>
            </a:xfrm>
            <a:custGeom>
              <a:avLst/>
              <a:gdLst/>
              <a:ahLst/>
              <a:cxnLst/>
              <a:rect r="r" b="b" t="t" l="l"/>
              <a:pathLst>
                <a:path h="2178177" w="10679811">
                  <a:moveTo>
                    <a:pt x="0" y="56642"/>
                  </a:moveTo>
                  <a:cubicBezTo>
                    <a:pt x="0" y="25400"/>
                    <a:pt x="25400" y="0"/>
                    <a:pt x="56642" y="0"/>
                  </a:cubicBezTo>
                  <a:lnTo>
                    <a:pt x="10623169" y="0"/>
                  </a:lnTo>
                  <a:cubicBezTo>
                    <a:pt x="10654537" y="0"/>
                    <a:pt x="10679811" y="25400"/>
                    <a:pt x="10679811" y="56642"/>
                  </a:cubicBezTo>
                  <a:lnTo>
                    <a:pt x="10679811" y="2121535"/>
                  </a:lnTo>
                  <a:cubicBezTo>
                    <a:pt x="10679811" y="2152904"/>
                    <a:pt x="10654411" y="2178177"/>
                    <a:pt x="10623169" y="2178177"/>
                  </a:cubicBezTo>
                  <a:lnTo>
                    <a:pt x="56642" y="2178177"/>
                  </a:lnTo>
                  <a:cubicBezTo>
                    <a:pt x="25273" y="2178177"/>
                    <a:pt x="0" y="2152777"/>
                    <a:pt x="0" y="2121535"/>
                  </a:cubicBezTo>
                  <a:close/>
                </a:path>
              </a:pathLst>
            </a:custGeom>
            <a:solidFill>
              <a:srgbClr val="26262B"/>
            </a:solidFill>
          </p:spPr>
        </p:sp>
      </p:grpSp>
      <p:sp>
        <p:nvSpPr>
          <p:cNvPr name="TextBox 26" id="26"/>
          <p:cNvSpPr txBox="true"/>
          <p:nvPr/>
        </p:nvSpPr>
        <p:spPr>
          <a:xfrm rot="0">
            <a:off x="9569206" y="7097020"/>
            <a:ext cx="3623967" cy="481012"/>
          </a:xfrm>
          <a:prstGeom prst="rect">
            <a:avLst/>
          </a:prstGeom>
        </p:spPr>
        <p:txBody>
          <a:bodyPr anchor="t" rtlCol="false" tIns="0" lIns="0" bIns="0" rIns="0">
            <a:spAutoFit/>
          </a:bodyPr>
          <a:lstStyle/>
          <a:p>
            <a:pPr algn="l">
              <a:lnSpc>
                <a:spcPts val="3437"/>
              </a:lnSpc>
            </a:pPr>
            <a:r>
              <a:rPr lang="en-US" sz="2750">
                <a:solidFill>
                  <a:srgbClr val="E0D6DE"/>
                </a:solidFill>
                <a:latin typeface="Arimo"/>
                <a:ea typeface="Arimo"/>
                <a:cs typeface="Arimo"/>
                <a:sym typeface="Arimo"/>
              </a:rPr>
              <a:t>Branch E: Sentiment</a:t>
            </a:r>
          </a:p>
        </p:txBody>
      </p:sp>
      <p:sp>
        <p:nvSpPr>
          <p:cNvPr name="TextBox 27" id="27"/>
          <p:cNvSpPr txBox="true"/>
          <p:nvPr/>
        </p:nvSpPr>
        <p:spPr>
          <a:xfrm rot="0">
            <a:off x="9569206" y="7662415"/>
            <a:ext cx="7442892" cy="539353"/>
          </a:xfrm>
          <a:prstGeom prst="rect">
            <a:avLst/>
          </a:prstGeom>
        </p:spPr>
        <p:txBody>
          <a:bodyPr anchor="t" rtlCol="false" tIns="0" lIns="0" bIns="0" rIns="0">
            <a:spAutoFit/>
          </a:bodyPr>
          <a:lstStyle/>
          <a:p>
            <a:pPr algn="l">
              <a:lnSpc>
                <a:spcPts val="3562"/>
              </a:lnSpc>
            </a:pPr>
            <a:r>
              <a:rPr lang="en-US" sz="2187">
                <a:solidFill>
                  <a:srgbClr val="E0D6DE"/>
                </a:solidFill>
                <a:latin typeface="Noto Sans"/>
                <a:ea typeface="Noto Sans"/>
                <a:cs typeface="Noto Sans"/>
                <a:sym typeface="Noto Sans"/>
              </a:rPr>
              <a:t>Risk &amp; imbalanced data</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07070C"/>
            </a:solidFill>
          </p:spPr>
        </p:sp>
      </p:grpSp>
      <p:grpSp>
        <p:nvGrpSpPr>
          <p:cNvPr name="Group 6" id="6"/>
          <p:cNvGrpSpPr/>
          <p:nvPr/>
        </p:nvGrpSpPr>
        <p:grpSpPr>
          <a:xfrm rot="0">
            <a:off x="0" y="0"/>
            <a:ext cx="6858000" cy="10287000"/>
            <a:chOff x="0" y="0"/>
            <a:chExt cx="9144000" cy="13716000"/>
          </a:xfrm>
        </p:grpSpPr>
        <p:sp>
          <p:nvSpPr>
            <p:cNvPr name="Freeform 7" id="7" descr="preencoded.png"/>
            <p:cNvSpPr/>
            <p:nvPr/>
          </p:nvSpPr>
          <p:spPr>
            <a:xfrm flipH="false" flipV="false" rot="0">
              <a:off x="0" y="0"/>
              <a:ext cx="9144000" cy="13716000"/>
            </a:xfrm>
            <a:custGeom>
              <a:avLst/>
              <a:gdLst/>
              <a:ahLst/>
              <a:cxnLst/>
              <a:rect r="r" b="b" t="t" l="l"/>
              <a:pathLst>
                <a:path h="13716000" w="9144000">
                  <a:moveTo>
                    <a:pt x="0" y="0"/>
                  </a:moveTo>
                  <a:lnTo>
                    <a:pt x="9144000" y="0"/>
                  </a:lnTo>
                  <a:lnTo>
                    <a:pt x="9144000" y="13716000"/>
                  </a:lnTo>
                  <a:lnTo>
                    <a:pt x="0" y="13716000"/>
                  </a:lnTo>
                  <a:lnTo>
                    <a:pt x="0" y="0"/>
                  </a:lnTo>
                  <a:close/>
                </a:path>
              </a:pathLst>
            </a:custGeom>
            <a:blipFill>
              <a:blip r:embed="rId4"/>
              <a:stretch>
                <a:fillRect l="0" t="0" r="0" b="0"/>
              </a:stretch>
            </a:blipFill>
          </p:spPr>
        </p:sp>
      </p:grpSp>
      <p:sp>
        <p:nvSpPr>
          <p:cNvPr name="TextBox 8" id="8"/>
          <p:cNvSpPr txBox="true"/>
          <p:nvPr/>
        </p:nvSpPr>
        <p:spPr>
          <a:xfrm rot="0">
            <a:off x="7850238" y="1218457"/>
            <a:ext cx="5384302" cy="614067"/>
          </a:xfrm>
          <a:prstGeom prst="rect">
            <a:avLst/>
          </a:prstGeom>
        </p:spPr>
        <p:txBody>
          <a:bodyPr anchor="t" rtlCol="false" tIns="0" lIns="0" bIns="0" rIns="0">
            <a:spAutoFit/>
          </a:bodyPr>
          <a:lstStyle/>
          <a:p>
            <a:pPr algn="l">
              <a:lnSpc>
                <a:spcPts val="4499"/>
              </a:lnSpc>
            </a:pPr>
            <a:r>
              <a:rPr lang="en-US" sz="3625">
                <a:solidFill>
                  <a:srgbClr val="97B8FF"/>
                </a:solidFill>
                <a:latin typeface="Arimo"/>
                <a:ea typeface="Arimo"/>
                <a:cs typeface="Arimo"/>
                <a:sym typeface="Arimo"/>
              </a:rPr>
              <a:t>Data Engineering Layer</a:t>
            </a:r>
          </a:p>
        </p:txBody>
      </p:sp>
      <p:grpSp>
        <p:nvGrpSpPr>
          <p:cNvPr name="Group 9" id="9"/>
          <p:cNvGrpSpPr/>
          <p:nvPr/>
        </p:nvGrpSpPr>
        <p:grpSpPr>
          <a:xfrm rot="0">
            <a:off x="7850238" y="2288534"/>
            <a:ext cx="9445523" cy="1510008"/>
            <a:chOff x="0" y="0"/>
            <a:chExt cx="12594031" cy="2013344"/>
          </a:xfrm>
        </p:grpSpPr>
        <p:sp>
          <p:nvSpPr>
            <p:cNvPr name="Freeform 10" id="10"/>
            <p:cNvSpPr/>
            <p:nvPr/>
          </p:nvSpPr>
          <p:spPr>
            <a:xfrm flipH="false" flipV="false" rot="0">
              <a:off x="0" y="0"/>
              <a:ext cx="12594082" cy="2013331"/>
            </a:xfrm>
            <a:custGeom>
              <a:avLst/>
              <a:gdLst/>
              <a:ahLst/>
              <a:cxnLst/>
              <a:rect r="r" b="b" t="t" l="l"/>
              <a:pathLst>
                <a:path h="2013331" w="12594082">
                  <a:moveTo>
                    <a:pt x="0" y="121920"/>
                  </a:moveTo>
                  <a:cubicBezTo>
                    <a:pt x="0" y="54610"/>
                    <a:pt x="54610" y="0"/>
                    <a:pt x="121920" y="0"/>
                  </a:cubicBezTo>
                  <a:lnTo>
                    <a:pt x="12472162" y="0"/>
                  </a:lnTo>
                  <a:cubicBezTo>
                    <a:pt x="12539472" y="0"/>
                    <a:pt x="12594082" y="54610"/>
                    <a:pt x="12594082" y="121920"/>
                  </a:cubicBezTo>
                  <a:lnTo>
                    <a:pt x="12594082" y="1891411"/>
                  </a:lnTo>
                  <a:cubicBezTo>
                    <a:pt x="12594082" y="1958721"/>
                    <a:pt x="12539472" y="2013331"/>
                    <a:pt x="12472162" y="2013331"/>
                  </a:cubicBezTo>
                  <a:lnTo>
                    <a:pt x="121920" y="2013331"/>
                  </a:lnTo>
                  <a:cubicBezTo>
                    <a:pt x="54610" y="2013331"/>
                    <a:pt x="0" y="1958721"/>
                    <a:pt x="0" y="1891411"/>
                  </a:cubicBezTo>
                  <a:close/>
                </a:path>
              </a:pathLst>
            </a:custGeom>
            <a:solidFill>
              <a:srgbClr val="07070C"/>
            </a:solidFill>
          </p:spPr>
        </p:sp>
      </p:grpSp>
      <p:grpSp>
        <p:nvGrpSpPr>
          <p:cNvPr name="Group 11" id="11"/>
          <p:cNvGrpSpPr/>
          <p:nvPr/>
        </p:nvGrpSpPr>
        <p:grpSpPr>
          <a:xfrm rot="0">
            <a:off x="7850238" y="2269484"/>
            <a:ext cx="9445523" cy="76200"/>
            <a:chOff x="0" y="0"/>
            <a:chExt cx="12594031" cy="101600"/>
          </a:xfrm>
        </p:grpSpPr>
        <p:sp>
          <p:nvSpPr>
            <p:cNvPr name="Freeform 12" id="12" descr="preencoded.png"/>
            <p:cNvSpPr/>
            <p:nvPr/>
          </p:nvSpPr>
          <p:spPr>
            <a:xfrm flipH="false" flipV="false" rot="0">
              <a:off x="0" y="0"/>
              <a:ext cx="12594082" cy="101600"/>
            </a:xfrm>
            <a:custGeom>
              <a:avLst/>
              <a:gdLst/>
              <a:ahLst/>
              <a:cxnLst/>
              <a:rect r="r" b="b" t="t" l="l"/>
              <a:pathLst>
                <a:path h="101600" w="12594082">
                  <a:moveTo>
                    <a:pt x="0" y="0"/>
                  </a:moveTo>
                  <a:lnTo>
                    <a:pt x="12594082" y="0"/>
                  </a:lnTo>
                  <a:lnTo>
                    <a:pt x="12594082" y="101600"/>
                  </a:lnTo>
                  <a:lnTo>
                    <a:pt x="0" y="101600"/>
                  </a:lnTo>
                  <a:lnTo>
                    <a:pt x="0" y="0"/>
                  </a:lnTo>
                  <a:close/>
                </a:path>
              </a:pathLst>
            </a:custGeom>
            <a:blipFill>
              <a:blip r:embed="rId5"/>
              <a:stretch>
                <a:fillRect l="-17" t="0" r="-16" b="0"/>
              </a:stretch>
            </a:blipFill>
          </p:spPr>
        </p:sp>
      </p:grpSp>
      <p:grpSp>
        <p:nvGrpSpPr>
          <p:cNvPr name="Group 13" id="13"/>
          <p:cNvGrpSpPr/>
          <p:nvPr/>
        </p:nvGrpSpPr>
        <p:grpSpPr>
          <a:xfrm rot="0">
            <a:off x="12296623" y="2012156"/>
            <a:ext cx="552745" cy="552745"/>
            <a:chOff x="0" y="0"/>
            <a:chExt cx="736994" cy="736994"/>
          </a:xfrm>
        </p:grpSpPr>
        <p:sp>
          <p:nvSpPr>
            <p:cNvPr name="Freeform 14" id="14" descr="preencoded.png"/>
            <p:cNvSpPr/>
            <p:nvPr/>
          </p:nvSpPr>
          <p:spPr>
            <a:xfrm flipH="false" flipV="false" rot="0">
              <a:off x="0" y="0"/>
              <a:ext cx="736981" cy="736981"/>
            </a:xfrm>
            <a:custGeom>
              <a:avLst/>
              <a:gdLst/>
              <a:ahLst/>
              <a:cxnLst/>
              <a:rect r="r" b="b" t="t" l="l"/>
              <a:pathLst>
                <a:path h="736981" w="736981">
                  <a:moveTo>
                    <a:pt x="0" y="0"/>
                  </a:moveTo>
                  <a:lnTo>
                    <a:pt x="736981" y="0"/>
                  </a:lnTo>
                  <a:lnTo>
                    <a:pt x="736981" y="736981"/>
                  </a:lnTo>
                  <a:lnTo>
                    <a:pt x="0" y="736981"/>
                  </a:lnTo>
                  <a:lnTo>
                    <a:pt x="0" y="0"/>
                  </a:lnTo>
                  <a:close/>
                </a:path>
              </a:pathLst>
            </a:custGeom>
            <a:blipFill>
              <a:blip r:embed="rId6"/>
              <a:stretch>
                <a:fillRect l="0" t="0" r="-1" b="-1"/>
              </a:stretch>
            </a:blipFill>
          </p:spPr>
        </p:sp>
      </p:grpSp>
      <p:sp>
        <p:nvSpPr>
          <p:cNvPr name="TextBox 15" id="15"/>
          <p:cNvSpPr txBox="true"/>
          <p:nvPr/>
        </p:nvSpPr>
        <p:spPr>
          <a:xfrm rot="0">
            <a:off x="12462424" y="2112169"/>
            <a:ext cx="221009" cy="314477"/>
          </a:xfrm>
          <a:prstGeom prst="rect">
            <a:avLst/>
          </a:prstGeom>
        </p:spPr>
        <p:txBody>
          <a:bodyPr anchor="t" rtlCol="false" tIns="0" lIns="0" bIns="0" rIns="0">
            <a:spAutoFit/>
          </a:bodyPr>
          <a:lstStyle/>
          <a:p>
            <a:pPr algn="l">
              <a:lnSpc>
                <a:spcPts val="2249"/>
              </a:lnSpc>
            </a:pPr>
            <a:r>
              <a:rPr lang="en-US" sz="1687">
                <a:solidFill>
                  <a:srgbClr val="000000"/>
                </a:solidFill>
                <a:latin typeface="Arimo"/>
                <a:ea typeface="Arimo"/>
                <a:cs typeface="Arimo"/>
                <a:sym typeface="Arimo"/>
              </a:rPr>
              <a:t>1</a:t>
            </a:r>
          </a:p>
        </p:txBody>
      </p:sp>
      <p:sp>
        <p:nvSpPr>
          <p:cNvPr name="TextBox 16" id="16"/>
          <p:cNvSpPr txBox="true"/>
          <p:nvPr/>
        </p:nvSpPr>
        <p:spPr>
          <a:xfrm rot="0">
            <a:off x="8053540" y="2720578"/>
            <a:ext cx="2303707" cy="316554"/>
          </a:xfrm>
          <a:prstGeom prst="rect">
            <a:avLst/>
          </a:prstGeom>
        </p:spPr>
        <p:txBody>
          <a:bodyPr anchor="t" rtlCol="false" tIns="0" lIns="0" bIns="0" rIns="0">
            <a:spAutoFit/>
          </a:bodyPr>
          <a:lstStyle/>
          <a:p>
            <a:pPr algn="l">
              <a:lnSpc>
                <a:spcPts val="2249"/>
              </a:lnSpc>
            </a:pPr>
            <a:r>
              <a:rPr lang="en-US" sz="1812">
                <a:solidFill>
                  <a:srgbClr val="E0D6DE"/>
                </a:solidFill>
                <a:latin typeface="Arimo"/>
                <a:ea typeface="Arimo"/>
                <a:cs typeface="Arimo"/>
                <a:sym typeface="Arimo"/>
              </a:rPr>
              <a:t>TFRecords Format</a:t>
            </a:r>
          </a:p>
        </p:txBody>
      </p:sp>
      <p:sp>
        <p:nvSpPr>
          <p:cNvPr name="TextBox 17" id="17"/>
          <p:cNvSpPr txBox="true"/>
          <p:nvPr/>
        </p:nvSpPr>
        <p:spPr>
          <a:xfrm rot="0">
            <a:off x="8053540" y="3099349"/>
            <a:ext cx="9038930" cy="495891"/>
          </a:xfrm>
          <a:prstGeom prst="rect">
            <a:avLst/>
          </a:prstGeom>
        </p:spPr>
        <p:txBody>
          <a:bodyPr anchor="t" rtlCol="false" tIns="0" lIns="0" bIns="0" rIns="0">
            <a:spAutoFit/>
          </a:bodyPr>
          <a:lstStyle/>
          <a:p>
            <a:pPr algn="l">
              <a:lnSpc>
                <a:spcPts val="1874"/>
              </a:lnSpc>
            </a:pPr>
            <a:r>
              <a:rPr lang="en-US" sz="1437">
                <a:solidFill>
                  <a:srgbClr val="E0D6DE"/>
                </a:solidFill>
                <a:latin typeface="Noto Sans"/>
                <a:ea typeface="Noto Sans"/>
                <a:cs typeface="Noto Sans"/>
                <a:sym typeface="Noto Sans"/>
              </a:rPr>
              <a:t>Transition all historical data to TFRecords for maximized GPU utilization and elimination of CPU bottlenecks during training</a:t>
            </a:r>
          </a:p>
        </p:txBody>
      </p:sp>
      <p:grpSp>
        <p:nvGrpSpPr>
          <p:cNvPr name="Group 18" id="18"/>
          <p:cNvGrpSpPr/>
          <p:nvPr/>
        </p:nvGrpSpPr>
        <p:grpSpPr>
          <a:xfrm rot="0">
            <a:off x="7850238" y="4194572"/>
            <a:ext cx="9445523" cy="1510008"/>
            <a:chOff x="0" y="0"/>
            <a:chExt cx="12594031" cy="2013344"/>
          </a:xfrm>
        </p:grpSpPr>
        <p:sp>
          <p:nvSpPr>
            <p:cNvPr name="Freeform 19" id="19"/>
            <p:cNvSpPr/>
            <p:nvPr/>
          </p:nvSpPr>
          <p:spPr>
            <a:xfrm flipH="false" flipV="false" rot="0">
              <a:off x="0" y="0"/>
              <a:ext cx="12594082" cy="2013331"/>
            </a:xfrm>
            <a:custGeom>
              <a:avLst/>
              <a:gdLst/>
              <a:ahLst/>
              <a:cxnLst/>
              <a:rect r="r" b="b" t="t" l="l"/>
              <a:pathLst>
                <a:path h="2013331" w="12594082">
                  <a:moveTo>
                    <a:pt x="0" y="121920"/>
                  </a:moveTo>
                  <a:cubicBezTo>
                    <a:pt x="0" y="54610"/>
                    <a:pt x="54610" y="0"/>
                    <a:pt x="121920" y="0"/>
                  </a:cubicBezTo>
                  <a:lnTo>
                    <a:pt x="12472162" y="0"/>
                  </a:lnTo>
                  <a:cubicBezTo>
                    <a:pt x="12539472" y="0"/>
                    <a:pt x="12594082" y="54610"/>
                    <a:pt x="12594082" y="121920"/>
                  </a:cubicBezTo>
                  <a:lnTo>
                    <a:pt x="12594082" y="1891411"/>
                  </a:lnTo>
                  <a:cubicBezTo>
                    <a:pt x="12594082" y="1958721"/>
                    <a:pt x="12539472" y="2013331"/>
                    <a:pt x="12472162" y="2013331"/>
                  </a:cubicBezTo>
                  <a:lnTo>
                    <a:pt x="121920" y="2013331"/>
                  </a:lnTo>
                  <a:cubicBezTo>
                    <a:pt x="54610" y="2013331"/>
                    <a:pt x="0" y="1958721"/>
                    <a:pt x="0" y="1891411"/>
                  </a:cubicBezTo>
                  <a:close/>
                </a:path>
              </a:pathLst>
            </a:custGeom>
            <a:solidFill>
              <a:srgbClr val="07070C"/>
            </a:solidFill>
          </p:spPr>
        </p:sp>
      </p:grpSp>
      <p:grpSp>
        <p:nvGrpSpPr>
          <p:cNvPr name="Group 20" id="20"/>
          <p:cNvGrpSpPr/>
          <p:nvPr/>
        </p:nvGrpSpPr>
        <p:grpSpPr>
          <a:xfrm rot="0">
            <a:off x="7850238" y="4175522"/>
            <a:ext cx="9445523" cy="76200"/>
            <a:chOff x="0" y="0"/>
            <a:chExt cx="12594031" cy="101600"/>
          </a:xfrm>
        </p:grpSpPr>
        <p:sp>
          <p:nvSpPr>
            <p:cNvPr name="Freeform 21" id="21" descr="preencoded.png"/>
            <p:cNvSpPr/>
            <p:nvPr/>
          </p:nvSpPr>
          <p:spPr>
            <a:xfrm flipH="false" flipV="false" rot="0">
              <a:off x="0" y="0"/>
              <a:ext cx="12594082" cy="101600"/>
            </a:xfrm>
            <a:custGeom>
              <a:avLst/>
              <a:gdLst/>
              <a:ahLst/>
              <a:cxnLst/>
              <a:rect r="r" b="b" t="t" l="l"/>
              <a:pathLst>
                <a:path h="101600" w="12594082">
                  <a:moveTo>
                    <a:pt x="0" y="0"/>
                  </a:moveTo>
                  <a:lnTo>
                    <a:pt x="12594082" y="0"/>
                  </a:lnTo>
                  <a:lnTo>
                    <a:pt x="12594082" y="101600"/>
                  </a:lnTo>
                  <a:lnTo>
                    <a:pt x="0" y="101600"/>
                  </a:lnTo>
                  <a:lnTo>
                    <a:pt x="0" y="0"/>
                  </a:lnTo>
                  <a:close/>
                </a:path>
              </a:pathLst>
            </a:custGeom>
            <a:blipFill>
              <a:blip r:embed="rId5"/>
              <a:stretch>
                <a:fillRect l="-17" t="0" r="-16" b="0"/>
              </a:stretch>
            </a:blipFill>
          </p:spPr>
        </p:sp>
      </p:grpSp>
      <p:grpSp>
        <p:nvGrpSpPr>
          <p:cNvPr name="Group 22" id="22"/>
          <p:cNvGrpSpPr/>
          <p:nvPr/>
        </p:nvGrpSpPr>
        <p:grpSpPr>
          <a:xfrm rot="0">
            <a:off x="12296623" y="3918194"/>
            <a:ext cx="552745" cy="552745"/>
            <a:chOff x="0" y="0"/>
            <a:chExt cx="736994" cy="736994"/>
          </a:xfrm>
        </p:grpSpPr>
        <p:sp>
          <p:nvSpPr>
            <p:cNvPr name="Freeform 23" id="23" descr="preencoded.png"/>
            <p:cNvSpPr/>
            <p:nvPr/>
          </p:nvSpPr>
          <p:spPr>
            <a:xfrm flipH="false" flipV="false" rot="0">
              <a:off x="0" y="0"/>
              <a:ext cx="736981" cy="736981"/>
            </a:xfrm>
            <a:custGeom>
              <a:avLst/>
              <a:gdLst/>
              <a:ahLst/>
              <a:cxnLst/>
              <a:rect r="r" b="b" t="t" l="l"/>
              <a:pathLst>
                <a:path h="736981" w="736981">
                  <a:moveTo>
                    <a:pt x="0" y="0"/>
                  </a:moveTo>
                  <a:lnTo>
                    <a:pt x="736981" y="0"/>
                  </a:lnTo>
                  <a:lnTo>
                    <a:pt x="736981" y="736981"/>
                  </a:lnTo>
                  <a:lnTo>
                    <a:pt x="0" y="736981"/>
                  </a:lnTo>
                  <a:lnTo>
                    <a:pt x="0" y="0"/>
                  </a:lnTo>
                  <a:close/>
                </a:path>
              </a:pathLst>
            </a:custGeom>
            <a:blipFill>
              <a:blip r:embed="rId6"/>
              <a:stretch>
                <a:fillRect l="0" t="0" r="-1" b="-1"/>
              </a:stretch>
            </a:blipFill>
          </p:spPr>
        </p:sp>
      </p:grpSp>
      <p:sp>
        <p:nvSpPr>
          <p:cNvPr name="TextBox 24" id="24"/>
          <p:cNvSpPr txBox="true"/>
          <p:nvPr/>
        </p:nvSpPr>
        <p:spPr>
          <a:xfrm rot="0">
            <a:off x="12462424" y="4018207"/>
            <a:ext cx="221009" cy="314477"/>
          </a:xfrm>
          <a:prstGeom prst="rect">
            <a:avLst/>
          </a:prstGeom>
        </p:spPr>
        <p:txBody>
          <a:bodyPr anchor="t" rtlCol="false" tIns="0" lIns="0" bIns="0" rIns="0">
            <a:spAutoFit/>
          </a:bodyPr>
          <a:lstStyle/>
          <a:p>
            <a:pPr algn="l">
              <a:lnSpc>
                <a:spcPts val="2249"/>
              </a:lnSpc>
            </a:pPr>
            <a:r>
              <a:rPr lang="en-US" sz="1687">
                <a:solidFill>
                  <a:srgbClr val="000000"/>
                </a:solidFill>
                <a:latin typeface="Arimo"/>
                <a:ea typeface="Arimo"/>
                <a:cs typeface="Arimo"/>
                <a:sym typeface="Arimo"/>
              </a:rPr>
              <a:t>2</a:t>
            </a:r>
          </a:p>
        </p:txBody>
      </p:sp>
      <p:sp>
        <p:nvSpPr>
          <p:cNvPr name="TextBox 25" id="25"/>
          <p:cNvSpPr txBox="true"/>
          <p:nvPr/>
        </p:nvSpPr>
        <p:spPr>
          <a:xfrm rot="0">
            <a:off x="8053540" y="4626616"/>
            <a:ext cx="2303707" cy="316554"/>
          </a:xfrm>
          <a:prstGeom prst="rect">
            <a:avLst/>
          </a:prstGeom>
        </p:spPr>
        <p:txBody>
          <a:bodyPr anchor="t" rtlCol="false" tIns="0" lIns="0" bIns="0" rIns="0">
            <a:spAutoFit/>
          </a:bodyPr>
          <a:lstStyle/>
          <a:p>
            <a:pPr algn="l">
              <a:lnSpc>
                <a:spcPts val="2249"/>
              </a:lnSpc>
            </a:pPr>
            <a:r>
              <a:rPr lang="en-US" sz="1812">
                <a:solidFill>
                  <a:srgbClr val="E0D6DE"/>
                </a:solidFill>
                <a:latin typeface="Arimo"/>
                <a:ea typeface="Arimo"/>
                <a:cs typeface="Arimo"/>
                <a:sym typeface="Arimo"/>
              </a:rPr>
              <a:t>C++ Optimization</a:t>
            </a:r>
          </a:p>
        </p:txBody>
      </p:sp>
      <p:sp>
        <p:nvSpPr>
          <p:cNvPr name="TextBox 26" id="26"/>
          <p:cNvSpPr txBox="true"/>
          <p:nvPr/>
        </p:nvSpPr>
        <p:spPr>
          <a:xfrm rot="0">
            <a:off x="8053540" y="5005387"/>
            <a:ext cx="9038930" cy="495891"/>
          </a:xfrm>
          <a:prstGeom prst="rect">
            <a:avLst/>
          </a:prstGeom>
        </p:spPr>
        <p:txBody>
          <a:bodyPr anchor="t" rtlCol="false" tIns="0" lIns="0" bIns="0" rIns="0">
            <a:spAutoFit/>
          </a:bodyPr>
          <a:lstStyle/>
          <a:p>
            <a:pPr algn="l">
              <a:lnSpc>
                <a:spcPts val="1874"/>
              </a:lnSpc>
            </a:pPr>
            <a:r>
              <a:rPr lang="en-US" sz="1437">
                <a:solidFill>
                  <a:srgbClr val="E0D6DE"/>
                </a:solidFill>
                <a:latin typeface="Noto Sans"/>
                <a:ea typeface="Noto Sans"/>
                <a:cs typeface="Noto Sans"/>
                <a:sym typeface="Noto Sans"/>
              </a:rPr>
              <a:t>Avoid wrapping tf.io.parse_single_example with tf.py_function to prevent degradation from Python environment</a:t>
            </a:r>
          </a:p>
        </p:txBody>
      </p:sp>
      <p:grpSp>
        <p:nvGrpSpPr>
          <p:cNvPr name="Group 27" id="27"/>
          <p:cNvGrpSpPr/>
          <p:nvPr/>
        </p:nvGrpSpPr>
        <p:grpSpPr>
          <a:xfrm rot="0">
            <a:off x="7850238" y="6100610"/>
            <a:ext cx="9445523" cy="1266825"/>
            <a:chOff x="0" y="0"/>
            <a:chExt cx="12594031" cy="1689100"/>
          </a:xfrm>
        </p:grpSpPr>
        <p:sp>
          <p:nvSpPr>
            <p:cNvPr name="Freeform 28" id="28"/>
            <p:cNvSpPr/>
            <p:nvPr/>
          </p:nvSpPr>
          <p:spPr>
            <a:xfrm flipH="false" flipV="false" rot="0">
              <a:off x="0" y="0"/>
              <a:ext cx="12594082" cy="1689100"/>
            </a:xfrm>
            <a:custGeom>
              <a:avLst/>
              <a:gdLst/>
              <a:ahLst/>
              <a:cxnLst/>
              <a:rect r="r" b="b" t="t" l="l"/>
              <a:pathLst>
                <a:path h="1689100" w="12594082">
                  <a:moveTo>
                    <a:pt x="0" y="121920"/>
                  </a:moveTo>
                  <a:cubicBezTo>
                    <a:pt x="0" y="54610"/>
                    <a:pt x="54610" y="0"/>
                    <a:pt x="121920" y="0"/>
                  </a:cubicBezTo>
                  <a:lnTo>
                    <a:pt x="12472162" y="0"/>
                  </a:lnTo>
                  <a:cubicBezTo>
                    <a:pt x="12539472" y="0"/>
                    <a:pt x="12594082" y="54610"/>
                    <a:pt x="12594082" y="121920"/>
                  </a:cubicBezTo>
                  <a:lnTo>
                    <a:pt x="12594082" y="1567180"/>
                  </a:lnTo>
                  <a:cubicBezTo>
                    <a:pt x="12594082" y="1634490"/>
                    <a:pt x="12539472" y="1689100"/>
                    <a:pt x="12472162" y="1689100"/>
                  </a:cubicBezTo>
                  <a:lnTo>
                    <a:pt x="121920" y="1689100"/>
                  </a:lnTo>
                  <a:cubicBezTo>
                    <a:pt x="54610" y="1689100"/>
                    <a:pt x="0" y="1634490"/>
                    <a:pt x="0" y="1567180"/>
                  </a:cubicBezTo>
                  <a:close/>
                </a:path>
              </a:pathLst>
            </a:custGeom>
            <a:solidFill>
              <a:srgbClr val="07070C"/>
            </a:solidFill>
          </p:spPr>
        </p:sp>
      </p:grpSp>
      <p:grpSp>
        <p:nvGrpSpPr>
          <p:cNvPr name="Group 29" id="29"/>
          <p:cNvGrpSpPr/>
          <p:nvPr/>
        </p:nvGrpSpPr>
        <p:grpSpPr>
          <a:xfrm rot="0">
            <a:off x="7850238" y="6081560"/>
            <a:ext cx="9445523" cy="76200"/>
            <a:chOff x="0" y="0"/>
            <a:chExt cx="12594031" cy="101600"/>
          </a:xfrm>
        </p:grpSpPr>
        <p:sp>
          <p:nvSpPr>
            <p:cNvPr name="Freeform 30" id="30" descr="preencoded.png"/>
            <p:cNvSpPr/>
            <p:nvPr/>
          </p:nvSpPr>
          <p:spPr>
            <a:xfrm flipH="false" flipV="false" rot="0">
              <a:off x="0" y="0"/>
              <a:ext cx="12594082" cy="101600"/>
            </a:xfrm>
            <a:custGeom>
              <a:avLst/>
              <a:gdLst/>
              <a:ahLst/>
              <a:cxnLst/>
              <a:rect r="r" b="b" t="t" l="l"/>
              <a:pathLst>
                <a:path h="101600" w="12594082">
                  <a:moveTo>
                    <a:pt x="0" y="0"/>
                  </a:moveTo>
                  <a:lnTo>
                    <a:pt x="12594082" y="0"/>
                  </a:lnTo>
                  <a:lnTo>
                    <a:pt x="12594082" y="101600"/>
                  </a:lnTo>
                  <a:lnTo>
                    <a:pt x="0" y="101600"/>
                  </a:lnTo>
                  <a:lnTo>
                    <a:pt x="0" y="0"/>
                  </a:lnTo>
                  <a:close/>
                </a:path>
              </a:pathLst>
            </a:custGeom>
            <a:blipFill>
              <a:blip r:embed="rId5"/>
              <a:stretch>
                <a:fillRect l="-17" t="0" r="-16" b="0"/>
              </a:stretch>
            </a:blipFill>
          </p:spPr>
        </p:sp>
      </p:grpSp>
      <p:grpSp>
        <p:nvGrpSpPr>
          <p:cNvPr name="Group 31" id="31"/>
          <p:cNvGrpSpPr/>
          <p:nvPr/>
        </p:nvGrpSpPr>
        <p:grpSpPr>
          <a:xfrm rot="0">
            <a:off x="12296623" y="5824242"/>
            <a:ext cx="552745" cy="552745"/>
            <a:chOff x="0" y="0"/>
            <a:chExt cx="736994" cy="736994"/>
          </a:xfrm>
        </p:grpSpPr>
        <p:sp>
          <p:nvSpPr>
            <p:cNvPr name="Freeform 32" id="32" descr="preencoded.png"/>
            <p:cNvSpPr/>
            <p:nvPr/>
          </p:nvSpPr>
          <p:spPr>
            <a:xfrm flipH="false" flipV="false" rot="0">
              <a:off x="0" y="0"/>
              <a:ext cx="736981" cy="736981"/>
            </a:xfrm>
            <a:custGeom>
              <a:avLst/>
              <a:gdLst/>
              <a:ahLst/>
              <a:cxnLst/>
              <a:rect r="r" b="b" t="t" l="l"/>
              <a:pathLst>
                <a:path h="736981" w="736981">
                  <a:moveTo>
                    <a:pt x="0" y="0"/>
                  </a:moveTo>
                  <a:lnTo>
                    <a:pt x="736981" y="0"/>
                  </a:lnTo>
                  <a:lnTo>
                    <a:pt x="736981" y="736981"/>
                  </a:lnTo>
                  <a:lnTo>
                    <a:pt x="0" y="736981"/>
                  </a:lnTo>
                  <a:lnTo>
                    <a:pt x="0" y="0"/>
                  </a:lnTo>
                  <a:close/>
                </a:path>
              </a:pathLst>
            </a:custGeom>
            <a:blipFill>
              <a:blip r:embed="rId6"/>
              <a:stretch>
                <a:fillRect l="0" t="0" r="-1" b="-1"/>
              </a:stretch>
            </a:blipFill>
          </p:spPr>
        </p:sp>
      </p:grpSp>
      <p:sp>
        <p:nvSpPr>
          <p:cNvPr name="TextBox 33" id="33"/>
          <p:cNvSpPr txBox="true"/>
          <p:nvPr/>
        </p:nvSpPr>
        <p:spPr>
          <a:xfrm rot="0">
            <a:off x="12462424" y="5924255"/>
            <a:ext cx="221009" cy="314477"/>
          </a:xfrm>
          <a:prstGeom prst="rect">
            <a:avLst/>
          </a:prstGeom>
        </p:spPr>
        <p:txBody>
          <a:bodyPr anchor="t" rtlCol="false" tIns="0" lIns="0" bIns="0" rIns="0">
            <a:spAutoFit/>
          </a:bodyPr>
          <a:lstStyle/>
          <a:p>
            <a:pPr algn="l">
              <a:lnSpc>
                <a:spcPts val="2249"/>
              </a:lnSpc>
            </a:pPr>
            <a:r>
              <a:rPr lang="en-US" sz="1687">
                <a:solidFill>
                  <a:srgbClr val="000000"/>
                </a:solidFill>
                <a:latin typeface="Arimo"/>
                <a:ea typeface="Arimo"/>
                <a:cs typeface="Arimo"/>
                <a:sym typeface="Arimo"/>
              </a:rPr>
              <a:t>3</a:t>
            </a:r>
          </a:p>
        </p:txBody>
      </p:sp>
      <p:sp>
        <p:nvSpPr>
          <p:cNvPr name="TextBox 34" id="34"/>
          <p:cNvSpPr txBox="true"/>
          <p:nvPr/>
        </p:nvSpPr>
        <p:spPr>
          <a:xfrm rot="0">
            <a:off x="8053540" y="6532664"/>
            <a:ext cx="2303707" cy="316554"/>
          </a:xfrm>
          <a:prstGeom prst="rect">
            <a:avLst/>
          </a:prstGeom>
        </p:spPr>
        <p:txBody>
          <a:bodyPr anchor="t" rtlCol="false" tIns="0" lIns="0" bIns="0" rIns="0">
            <a:spAutoFit/>
          </a:bodyPr>
          <a:lstStyle/>
          <a:p>
            <a:pPr algn="l">
              <a:lnSpc>
                <a:spcPts val="2249"/>
              </a:lnSpc>
            </a:pPr>
            <a:r>
              <a:rPr lang="en-US" sz="1812">
                <a:solidFill>
                  <a:srgbClr val="E0D6DE"/>
                </a:solidFill>
                <a:latin typeface="Arimo"/>
                <a:ea typeface="Arimo"/>
                <a:cs typeface="Arimo"/>
                <a:sym typeface="Arimo"/>
              </a:rPr>
              <a:t>GAF Encoding</a:t>
            </a:r>
          </a:p>
        </p:txBody>
      </p:sp>
      <p:sp>
        <p:nvSpPr>
          <p:cNvPr name="TextBox 35" id="35"/>
          <p:cNvSpPr txBox="true"/>
          <p:nvPr/>
        </p:nvSpPr>
        <p:spPr>
          <a:xfrm rot="0">
            <a:off x="8053540" y="6911426"/>
            <a:ext cx="9038930" cy="252708"/>
          </a:xfrm>
          <a:prstGeom prst="rect">
            <a:avLst/>
          </a:prstGeom>
        </p:spPr>
        <p:txBody>
          <a:bodyPr anchor="t" rtlCol="false" tIns="0" lIns="0" bIns="0" rIns="0">
            <a:spAutoFit/>
          </a:bodyPr>
          <a:lstStyle/>
          <a:p>
            <a:pPr algn="l">
              <a:lnSpc>
                <a:spcPts val="1874"/>
              </a:lnSpc>
            </a:pPr>
            <a:r>
              <a:rPr lang="en-US" sz="1437">
                <a:solidFill>
                  <a:srgbClr val="E0D6DE"/>
                </a:solidFill>
                <a:latin typeface="Noto Sans"/>
                <a:ea typeface="Noto Sans"/>
                <a:cs typeface="Noto Sans"/>
                <a:sym typeface="Noto Sans"/>
              </a:rPr>
              <a:t>Encode time-series into 2D images using Gramian Angular Field with polar coordinate representation</a:t>
            </a:r>
          </a:p>
        </p:txBody>
      </p:sp>
      <p:grpSp>
        <p:nvGrpSpPr>
          <p:cNvPr name="Group 36" id="36"/>
          <p:cNvGrpSpPr/>
          <p:nvPr/>
        </p:nvGrpSpPr>
        <p:grpSpPr>
          <a:xfrm rot="0">
            <a:off x="7850238" y="7763466"/>
            <a:ext cx="9445523" cy="1266825"/>
            <a:chOff x="0" y="0"/>
            <a:chExt cx="12594031" cy="1689100"/>
          </a:xfrm>
        </p:grpSpPr>
        <p:sp>
          <p:nvSpPr>
            <p:cNvPr name="Freeform 37" id="37"/>
            <p:cNvSpPr/>
            <p:nvPr/>
          </p:nvSpPr>
          <p:spPr>
            <a:xfrm flipH="false" flipV="false" rot="0">
              <a:off x="0" y="0"/>
              <a:ext cx="12594082" cy="1689100"/>
            </a:xfrm>
            <a:custGeom>
              <a:avLst/>
              <a:gdLst/>
              <a:ahLst/>
              <a:cxnLst/>
              <a:rect r="r" b="b" t="t" l="l"/>
              <a:pathLst>
                <a:path h="1689100" w="12594082">
                  <a:moveTo>
                    <a:pt x="0" y="121920"/>
                  </a:moveTo>
                  <a:cubicBezTo>
                    <a:pt x="0" y="54610"/>
                    <a:pt x="54610" y="0"/>
                    <a:pt x="121920" y="0"/>
                  </a:cubicBezTo>
                  <a:lnTo>
                    <a:pt x="12472162" y="0"/>
                  </a:lnTo>
                  <a:cubicBezTo>
                    <a:pt x="12539472" y="0"/>
                    <a:pt x="12594082" y="54610"/>
                    <a:pt x="12594082" y="121920"/>
                  </a:cubicBezTo>
                  <a:lnTo>
                    <a:pt x="12594082" y="1567180"/>
                  </a:lnTo>
                  <a:cubicBezTo>
                    <a:pt x="12594082" y="1634490"/>
                    <a:pt x="12539472" y="1689100"/>
                    <a:pt x="12472162" y="1689100"/>
                  </a:cubicBezTo>
                  <a:lnTo>
                    <a:pt x="121920" y="1689100"/>
                  </a:lnTo>
                  <a:cubicBezTo>
                    <a:pt x="54610" y="1689100"/>
                    <a:pt x="0" y="1634490"/>
                    <a:pt x="0" y="1567180"/>
                  </a:cubicBezTo>
                  <a:close/>
                </a:path>
              </a:pathLst>
            </a:custGeom>
            <a:solidFill>
              <a:srgbClr val="07070C"/>
            </a:solidFill>
          </p:spPr>
        </p:sp>
      </p:grpSp>
      <p:grpSp>
        <p:nvGrpSpPr>
          <p:cNvPr name="Group 38" id="38"/>
          <p:cNvGrpSpPr/>
          <p:nvPr/>
        </p:nvGrpSpPr>
        <p:grpSpPr>
          <a:xfrm rot="0">
            <a:off x="7850238" y="7744416"/>
            <a:ext cx="9445523" cy="76200"/>
            <a:chOff x="0" y="0"/>
            <a:chExt cx="12594031" cy="101600"/>
          </a:xfrm>
        </p:grpSpPr>
        <p:sp>
          <p:nvSpPr>
            <p:cNvPr name="Freeform 39" id="39" descr="preencoded.png"/>
            <p:cNvSpPr/>
            <p:nvPr/>
          </p:nvSpPr>
          <p:spPr>
            <a:xfrm flipH="false" flipV="false" rot="0">
              <a:off x="0" y="0"/>
              <a:ext cx="12594082" cy="101600"/>
            </a:xfrm>
            <a:custGeom>
              <a:avLst/>
              <a:gdLst/>
              <a:ahLst/>
              <a:cxnLst/>
              <a:rect r="r" b="b" t="t" l="l"/>
              <a:pathLst>
                <a:path h="101600" w="12594082">
                  <a:moveTo>
                    <a:pt x="0" y="0"/>
                  </a:moveTo>
                  <a:lnTo>
                    <a:pt x="12594082" y="0"/>
                  </a:lnTo>
                  <a:lnTo>
                    <a:pt x="12594082" y="101600"/>
                  </a:lnTo>
                  <a:lnTo>
                    <a:pt x="0" y="101600"/>
                  </a:lnTo>
                  <a:lnTo>
                    <a:pt x="0" y="0"/>
                  </a:lnTo>
                  <a:close/>
                </a:path>
              </a:pathLst>
            </a:custGeom>
            <a:blipFill>
              <a:blip r:embed="rId5"/>
              <a:stretch>
                <a:fillRect l="-17" t="0" r="-16" b="0"/>
              </a:stretch>
            </a:blipFill>
          </p:spPr>
        </p:sp>
      </p:grpSp>
      <p:grpSp>
        <p:nvGrpSpPr>
          <p:cNvPr name="Group 40" id="40"/>
          <p:cNvGrpSpPr/>
          <p:nvPr/>
        </p:nvGrpSpPr>
        <p:grpSpPr>
          <a:xfrm rot="0">
            <a:off x="12296623" y="7487098"/>
            <a:ext cx="552745" cy="552745"/>
            <a:chOff x="0" y="0"/>
            <a:chExt cx="736994" cy="736994"/>
          </a:xfrm>
        </p:grpSpPr>
        <p:sp>
          <p:nvSpPr>
            <p:cNvPr name="Freeform 41" id="41" descr="preencoded.png"/>
            <p:cNvSpPr/>
            <p:nvPr/>
          </p:nvSpPr>
          <p:spPr>
            <a:xfrm flipH="false" flipV="false" rot="0">
              <a:off x="0" y="0"/>
              <a:ext cx="736981" cy="736981"/>
            </a:xfrm>
            <a:custGeom>
              <a:avLst/>
              <a:gdLst/>
              <a:ahLst/>
              <a:cxnLst/>
              <a:rect r="r" b="b" t="t" l="l"/>
              <a:pathLst>
                <a:path h="736981" w="736981">
                  <a:moveTo>
                    <a:pt x="0" y="0"/>
                  </a:moveTo>
                  <a:lnTo>
                    <a:pt x="736981" y="0"/>
                  </a:lnTo>
                  <a:lnTo>
                    <a:pt x="736981" y="736981"/>
                  </a:lnTo>
                  <a:lnTo>
                    <a:pt x="0" y="736981"/>
                  </a:lnTo>
                  <a:lnTo>
                    <a:pt x="0" y="0"/>
                  </a:lnTo>
                  <a:close/>
                </a:path>
              </a:pathLst>
            </a:custGeom>
            <a:blipFill>
              <a:blip r:embed="rId6"/>
              <a:stretch>
                <a:fillRect l="0" t="0" r="-1" b="-1"/>
              </a:stretch>
            </a:blipFill>
          </p:spPr>
        </p:sp>
      </p:grpSp>
      <p:sp>
        <p:nvSpPr>
          <p:cNvPr name="TextBox 42" id="42"/>
          <p:cNvSpPr txBox="true"/>
          <p:nvPr/>
        </p:nvSpPr>
        <p:spPr>
          <a:xfrm rot="0">
            <a:off x="12462424" y="7587110"/>
            <a:ext cx="221009" cy="314477"/>
          </a:xfrm>
          <a:prstGeom prst="rect">
            <a:avLst/>
          </a:prstGeom>
        </p:spPr>
        <p:txBody>
          <a:bodyPr anchor="t" rtlCol="false" tIns="0" lIns="0" bIns="0" rIns="0">
            <a:spAutoFit/>
          </a:bodyPr>
          <a:lstStyle/>
          <a:p>
            <a:pPr algn="l">
              <a:lnSpc>
                <a:spcPts val="2249"/>
              </a:lnSpc>
            </a:pPr>
            <a:r>
              <a:rPr lang="en-US" sz="1687">
                <a:solidFill>
                  <a:srgbClr val="000000"/>
                </a:solidFill>
                <a:latin typeface="Arimo"/>
                <a:ea typeface="Arimo"/>
                <a:cs typeface="Arimo"/>
                <a:sym typeface="Arimo"/>
              </a:rPr>
              <a:t>4</a:t>
            </a:r>
          </a:p>
        </p:txBody>
      </p:sp>
      <p:sp>
        <p:nvSpPr>
          <p:cNvPr name="TextBox 43" id="43"/>
          <p:cNvSpPr txBox="true"/>
          <p:nvPr/>
        </p:nvSpPr>
        <p:spPr>
          <a:xfrm rot="0">
            <a:off x="8053540" y="8195520"/>
            <a:ext cx="2303707" cy="316554"/>
          </a:xfrm>
          <a:prstGeom prst="rect">
            <a:avLst/>
          </a:prstGeom>
        </p:spPr>
        <p:txBody>
          <a:bodyPr anchor="t" rtlCol="false" tIns="0" lIns="0" bIns="0" rIns="0">
            <a:spAutoFit/>
          </a:bodyPr>
          <a:lstStyle/>
          <a:p>
            <a:pPr algn="l">
              <a:lnSpc>
                <a:spcPts val="2249"/>
              </a:lnSpc>
            </a:pPr>
            <a:r>
              <a:rPr lang="en-US" sz="1812">
                <a:solidFill>
                  <a:srgbClr val="E0D6DE"/>
                </a:solidFill>
                <a:latin typeface="Arimo"/>
                <a:ea typeface="Arimo"/>
                <a:cs typeface="Arimo"/>
                <a:sym typeface="Arimo"/>
              </a:rPr>
              <a:t>CULR Features</a:t>
            </a:r>
          </a:p>
        </p:txBody>
      </p:sp>
      <p:sp>
        <p:nvSpPr>
          <p:cNvPr name="TextBox 44" id="44"/>
          <p:cNvSpPr txBox="true"/>
          <p:nvPr/>
        </p:nvSpPr>
        <p:spPr>
          <a:xfrm rot="0">
            <a:off x="8053540" y="8574291"/>
            <a:ext cx="9038930" cy="252708"/>
          </a:xfrm>
          <a:prstGeom prst="rect">
            <a:avLst/>
          </a:prstGeom>
        </p:spPr>
        <p:txBody>
          <a:bodyPr anchor="t" rtlCol="false" tIns="0" lIns="0" bIns="0" rIns="0">
            <a:spAutoFit/>
          </a:bodyPr>
          <a:lstStyle/>
          <a:p>
            <a:pPr algn="l">
              <a:lnSpc>
                <a:spcPts val="1874"/>
              </a:lnSpc>
            </a:pPr>
            <a:r>
              <a:rPr lang="en-US" sz="1437">
                <a:solidFill>
                  <a:srgbClr val="E0D6DE"/>
                </a:solidFill>
                <a:latin typeface="Noto Sans"/>
                <a:ea typeface="Noto Sans"/>
                <a:cs typeface="Noto Sans"/>
                <a:sym typeface="Noto Sans"/>
              </a:rPr>
              <a:t>Use Close, Upper shadow, Lower shadow, Real-body instead of standard OHLC for 92%+ CNN accuracy</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07070C"/>
            </a:solidFill>
          </p:spPr>
        </p:sp>
      </p:grpSp>
      <p:sp>
        <p:nvSpPr>
          <p:cNvPr name="TextBox 6" id="6"/>
          <p:cNvSpPr txBox="true"/>
          <p:nvPr/>
        </p:nvSpPr>
        <p:spPr>
          <a:xfrm rot="0">
            <a:off x="992238" y="840581"/>
            <a:ext cx="9149210" cy="845048"/>
          </a:xfrm>
          <a:prstGeom prst="rect">
            <a:avLst/>
          </a:prstGeom>
        </p:spPr>
        <p:txBody>
          <a:bodyPr anchor="t" rtlCol="false" tIns="0" lIns="0" bIns="0" rIns="0">
            <a:spAutoFit/>
          </a:bodyPr>
          <a:lstStyle/>
          <a:p>
            <a:pPr algn="l">
              <a:lnSpc>
                <a:spcPts val="6249"/>
              </a:lnSpc>
            </a:pPr>
            <a:r>
              <a:rPr lang="en-US" sz="4999">
                <a:solidFill>
                  <a:srgbClr val="97B8FF"/>
                </a:solidFill>
                <a:latin typeface="Arimo"/>
                <a:ea typeface="Arimo"/>
                <a:cs typeface="Arimo"/>
                <a:sym typeface="Arimo"/>
              </a:rPr>
              <a:t>Branch A: Tactical Execution</a:t>
            </a:r>
          </a:p>
        </p:txBody>
      </p:sp>
      <p:sp>
        <p:nvSpPr>
          <p:cNvPr name="TextBox 7" id="7"/>
          <p:cNvSpPr txBox="true"/>
          <p:nvPr/>
        </p:nvSpPr>
        <p:spPr>
          <a:xfrm rot="0">
            <a:off x="992238" y="1748876"/>
            <a:ext cx="6698161" cy="427139"/>
          </a:xfrm>
          <a:prstGeom prst="rect">
            <a:avLst/>
          </a:prstGeom>
        </p:spPr>
        <p:txBody>
          <a:bodyPr anchor="t" rtlCol="false" tIns="0" lIns="0" bIns="0" rIns="0">
            <a:spAutoFit/>
          </a:bodyPr>
          <a:lstStyle/>
          <a:p>
            <a:pPr algn="l">
              <a:lnSpc>
                <a:spcPts val="3124"/>
              </a:lnSpc>
            </a:pPr>
            <a:r>
              <a:rPr lang="en-US" sz="2499">
                <a:solidFill>
                  <a:srgbClr val="97B8FF"/>
                </a:solidFill>
                <a:latin typeface="Arimo"/>
                <a:ea typeface="Arimo"/>
                <a:cs typeface="Arimo"/>
                <a:sym typeface="Arimo"/>
              </a:rPr>
              <a:t>Hybrid CNN-LSTM with Attention (HCLA)</a:t>
            </a:r>
          </a:p>
        </p:txBody>
      </p:sp>
      <p:sp>
        <p:nvSpPr>
          <p:cNvPr name="TextBox 8" id="8"/>
          <p:cNvSpPr txBox="true"/>
          <p:nvPr/>
        </p:nvSpPr>
        <p:spPr>
          <a:xfrm rot="0">
            <a:off x="992238" y="4129383"/>
            <a:ext cx="10379421" cy="1230211"/>
          </a:xfrm>
          <a:prstGeom prst="rect">
            <a:avLst/>
          </a:prstGeom>
        </p:spPr>
        <p:txBody>
          <a:bodyPr anchor="t" rtlCol="false" tIns="0" lIns="0" bIns="0" rIns="0">
            <a:spAutoFit/>
          </a:bodyPr>
          <a:lstStyle/>
          <a:p>
            <a:pPr algn="l">
              <a:lnSpc>
                <a:spcPts val="3000"/>
              </a:lnSpc>
            </a:pPr>
            <a:r>
              <a:rPr lang="en-US" sz="2000">
                <a:solidFill>
                  <a:srgbClr val="E0D6DE"/>
                </a:solidFill>
                <a:latin typeface="Noto Sans"/>
                <a:ea typeface="Noto Sans"/>
                <a:cs typeface="Noto Sans"/>
                <a:sym typeface="Noto Sans"/>
              </a:rPr>
              <a:t>This 2025 architecture replaces standalone CNN + GRU approaches. It employs CNN for spatial feature extraction, LSTM for temporal learning, and attention mechanisms for dynamic focus.</a:t>
            </a:r>
          </a:p>
        </p:txBody>
      </p:sp>
      <p:sp>
        <p:nvSpPr>
          <p:cNvPr name="TextBox 9" id="9"/>
          <p:cNvSpPr txBox="true"/>
          <p:nvPr/>
        </p:nvSpPr>
        <p:spPr>
          <a:xfrm rot="0">
            <a:off x="992238" y="5560666"/>
            <a:ext cx="3189684" cy="427139"/>
          </a:xfrm>
          <a:prstGeom prst="rect">
            <a:avLst/>
          </a:prstGeom>
        </p:spPr>
        <p:txBody>
          <a:bodyPr anchor="t" rtlCol="false" tIns="0" lIns="0" bIns="0" rIns="0">
            <a:spAutoFit/>
          </a:bodyPr>
          <a:lstStyle/>
          <a:p>
            <a:pPr algn="l">
              <a:lnSpc>
                <a:spcPts val="3124"/>
              </a:lnSpc>
            </a:pPr>
            <a:r>
              <a:rPr lang="en-US" sz="2499">
                <a:solidFill>
                  <a:srgbClr val="97B8FF"/>
                </a:solidFill>
                <a:latin typeface="Arimo"/>
                <a:ea typeface="Arimo"/>
                <a:cs typeface="Arimo"/>
                <a:sym typeface="Arimo"/>
              </a:rPr>
              <a:t>Key Innovations</a:t>
            </a:r>
          </a:p>
        </p:txBody>
      </p:sp>
      <p:sp>
        <p:nvSpPr>
          <p:cNvPr name="TextBox 10" id="10"/>
          <p:cNvSpPr txBox="true"/>
          <p:nvPr/>
        </p:nvSpPr>
        <p:spPr>
          <a:xfrm rot="0">
            <a:off x="992238" y="6150769"/>
            <a:ext cx="10379421" cy="1698422"/>
          </a:xfrm>
          <a:prstGeom prst="rect">
            <a:avLst/>
          </a:prstGeom>
        </p:spPr>
        <p:txBody>
          <a:bodyPr anchor="t" rtlCol="false" tIns="0" lIns="0" bIns="0" rIns="0">
            <a:spAutoFit/>
          </a:bodyPr>
          <a:lstStyle/>
          <a:p>
            <a:pPr algn="l" marL="301625" indent="-150812" lvl="1">
              <a:lnSpc>
                <a:spcPts val="3000"/>
              </a:lnSpc>
              <a:buFont typeface="Arial"/>
              <a:buChar char="•"/>
            </a:pPr>
            <a:r>
              <a:rPr lang="en-US" b="true" sz="2000">
                <a:solidFill>
                  <a:srgbClr val="E0D6DE"/>
                </a:solidFill>
                <a:latin typeface="Noto Sans Bold"/>
                <a:ea typeface="Noto Sans Bold"/>
                <a:cs typeface="Noto Sans Bold"/>
                <a:sym typeface="Noto Sans Bold"/>
              </a:rPr>
              <a:t>Attention-Weighted Hybrid Feature Extraction (AHFE)</a:t>
            </a:r>
            <a:r>
              <a:rPr lang="en-US" sz="2000">
                <a:solidFill>
                  <a:srgbClr val="E0D6DE"/>
                </a:solidFill>
                <a:latin typeface="Noto Sans"/>
                <a:ea typeface="Noto Sans"/>
                <a:cs typeface="Noto Sans"/>
                <a:sym typeface="Noto Sans"/>
              </a:rPr>
              <a:t>: Dynamically focuses on volatile time steps in order book data</a:t>
            </a:r>
          </a:p>
          <a:p>
            <a:pPr algn="l" marL="301625" indent="-150812" lvl="1">
              <a:lnSpc>
                <a:spcPts val="3000"/>
              </a:lnSpc>
              <a:buFont typeface="Arial"/>
              <a:buChar char="•"/>
            </a:pPr>
            <a:r>
              <a:rPr lang="en-US" b="true" sz="2000">
                <a:solidFill>
                  <a:srgbClr val="E0D6DE"/>
                </a:solidFill>
                <a:latin typeface="Noto Sans Bold"/>
                <a:ea typeface="Noto Sans Bold"/>
                <a:cs typeface="Noto Sans Bold"/>
                <a:sym typeface="Noto Sans Bold"/>
              </a:rPr>
              <a:t>Dynamic Error Feedback Adjustment (DEFA)</a:t>
            </a:r>
            <a:r>
              <a:rPr lang="en-US" sz="2000">
                <a:solidFill>
                  <a:srgbClr val="E0D6DE"/>
                </a:solidFill>
                <a:latin typeface="Noto Sans"/>
                <a:ea typeface="Noto Sans"/>
                <a:cs typeface="Noto Sans"/>
                <a:sym typeface="Noto Sans"/>
              </a:rPr>
              <a:t>: Adaptive correction based on recent prediction errors</a:t>
            </a:r>
          </a:p>
        </p:txBody>
      </p:sp>
      <p:grpSp>
        <p:nvGrpSpPr>
          <p:cNvPr name="Group 11" id="11"/>
          <p:cNvGrpSpPr/>
          <p:nvPr/>
        </p:nvGrpSpPr>
        <p:grpSpPr>
          <a:xfrm rot="0">
            <a:off x="12268648" y="2778766"/>
            <a:ext cx="4771282" cy="6361662"/>
            <a:chOff x="0" y="0"/>
            <a:chExt cx="6361709" cy="8482216"/>
          </a:xfrm>
        </p:grpSpPr>
        <p:sp>
          <p:nvSpPr>
            <p:cNvPr name="Freeform 12" id="12" descr="preencoded.png"/>
            <p:cNvSpPr/>
            <p:nvPr/>
          </p:nvSpPr>
          <p:spPr>
            <a:xfrm flipH="false" flipV="false" rot="0">
              <a:off x="0" y="0"/>
              <a:ext cx="6361684" cy="8482203"/>
            </a:xfrm>
            <a:custGeom>
              <a:avLst/>
              <a:gdLst/>
              <a:ahLst/>
              <a:cxnLst/>
              <a:rect r="r" b="b" t="t" l="l"/>
              <a:pathLst>
                <a:path h="8482203" w="6361684">
                  <a:moveTo>
                    <a:pt x="0" y="0"/>
                  </a:moveTo>
                  <a:lnTo>
                    <a:pt x="6361684" y="0"/>
                  </a:lnTo>
                  <a:lnTo>
                    <a:pt x="6361684" y="8482203"/>
                  </a:lnTo>
                  <a:lnTo>
                    <a:pt x="0" y="8482203"/>
                  </a:lnTo>
                  <a:lnTo>
                    <a:pt x="0" y="0"/>
                  </a:lnTo>
                  <a:close/>
                </a:path>
              </a:pathLst>
            </a:custGeom>
            <a:blipFill>
              <a:blip r:embed="rId4"/>
              <a:stretch>
                <a:fillRect l="0" t="0" r="0" b="0"/>
              </a:stretch>
            </a:blipFill>
          </p:spPr>
        </p:sp>
      </p:gr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07070C"/>
            </a:solidFill>
          </p:spPr>
        </p:sp>
      </p:grpSp>
      <p:grpSp>
        <p:nvGrpSpPr>
          <p:cNvPr name="Group 6" id="6"/>
          <p:cNvGrpSpPr/>
          <p:nvPr/>
        </p:nvGrpSpPr>
        <p:grpSpPr>
          <a:xfrm rot="0">
            <a:off x="16049015" y="9686925"/>
            <a:ext cx="2153260" cy="514350"/>
            <a:chOff x="0" y="0"/>
            <a:chExt cx="2871013" cy="685800"/>
          </a:xfrm>
        </p:grpSpPr>
        <p:sp>
          <p:nvSpPr>
            <p:cNvPr name="Freeform 7" id="7" descr="preencoded.png">
              <a:hlinkClick r:id="rId4" tooltip="https://gamma.app/?utm_source=made-with-gamma"/>
            </p:cNvPr>
            <p:cNvSpPr/>
            <p:nvPr/>
          </p:nvSpPr>
          <p:spPr>
            <a:xfrm flipH="false" flipV="false" rot="0">
              <a:off x="0" y="0"/>
              <a:ext cx="2870962" cy="685800"/>
            </a:xfrm>
            <a:custGeom>
              <a:avLst/>
              <a:gdLst/>
              <a:ahLst/>
              <a:cxnLst/>
              <a:rect r="r" b="b" t="t" l="l"/>
              <a:pathLst>
                <a:path h="685800" w="2870962">
                  <a:moveTo>
                    <a:pt x="0" y="0"/>
                  </a:moveTo>
                  <a:lnTo>
                    <a:pt x="2870962" y="0"/>
                  </a:lnTo>
                  <a:lnTo>
                    <a:pt x="2870962" y="685800"/>
                  </a:lnTo>
                  <a:lnTo>
                    <a:pt x="0" y="685800"/>
                  </a:lnTo>
                  <a:lnTo>
                    <a:pt x="0" y="0"/>
                  </a:lnTo>
                  <a:close/>
                </a:path>
              </a:pathLst>
            </a:custGeom>
            <a:blipFill>
              <a:blip r:embed="rId5"/>
              <a:stretch>
                <a:fillRect l="0" t="0" r="-1" b="0"/>
              </a:stretch>
            </a:blipFill>
          </p:spPr>
        </p:sp>
      </p:grpSp>
      <p:grpSp>
        <p:nvGrpSpPr>
          <p:cNvPr name="Group 8" id="8"/>
          <p:cNvGrpSpPr/>
          <p:nvPr/>
        </p:nvGrpSpPr>
        <p:grpSpPr>
          <a:xfrm rot="0">
            <a:off x="11430000" y="0"/>
            <a:ext cx="6858000" cy="10287000"/>
            <a:chOff x="0" y="0"/>
            <a:chExt cx="9144000" cy="13716000"/>
          </a:xfrm>
        </p:grpSpPr>
        <p:sp>
          <p:nvSpPr>
            <p:cNvPr name="Freeform 9" id="9" descr="preencoded.png"/>
            <p:cNvSpPr/>
            <p:nvPr/>
          </p:nvSpPr>
          <p:spPr>
            <a:xfrm flipH="false" flipV="false" rot="0">
              <a:off x="0" y="0"/>
              <a:ext cx="9144000" cy="13716000"/>
            </a:xfrm>
            <a:custGeom>
              <a:avLst/>
              <a:gdLst/>
              <a:ahLst/>
              <a:cxnLst/>
              <a:rect r="r" b="b" t="t" l="l"/>
              <a:pathLst>
                <a:path h="13716000" w="9144000">
                  <a:moveTo>
                    <a:pt x="0" y="0"/>
                  </a:moveTo>
                  <a:lnTo>
                    <a:pt x="9144000" y="0"/>
                  </a:lnTo>
                  <a:lnTo>
                    <a:pt x="9144000" y="13716000"/>
                  </a:lnTo>
                  <a:lnTo>
                    <a:pt x="0" y="13716000"/>
                  </a:lnTo>
                  <a:lnTo>
                    <a:pt x="0" y="0"/>
                  </a:lnTo>
                  <a:close/>
                </a:path>
              </a:pathLst>
            </a:custGeom>
            <a:blipFill>
              <a:blip r:embed="rId6"/>
              <a:stretch>
                <a:fillRect l="0" t="0" r="0" b="0"/>
              </a:stretch>
            </a:blipFill>
          </p:spPr>
        </p:sp>
      </p:grpSp>
      <p:sp>
        <p:nvSpPr>
          <p:cNvPr name="TextBox 10" id="10"/>
          <p:cNvSpPr txBox="true"/>
          <p:nvPr/>
        </p:nvSpPr>
        <p:spPr>
          <a:xfrm rot="0">
            <a:off x="992238" y="921991"/>
            <a:ext cx="9445523" cy="1642472"/>
          </a:xfrm>
          <a:prstGeom prst="rect">
            <a:avLst/>
          </a:prstGeom>
        </p:spPr>
        <p:txBody>
          <a:bodyPr anchor="t" rtlCol="false" tIns="0" lIns="0" bIns="0" rIns="0">
            <a:spAutoFit/>
          </a:bodyPr>
          <a:lstStyle/>
          <a:p>
            <a:pPr algn="l">
              <a:lnSpc>
                <a:spcPts val="6249"/>
              </a:lnSpc>
            </a:pPr>
            <a:r>
              <a:rPr lang="en-US" sz="4999">
                <a:solidFill>
                  <a:srgbClr val="97B8FF"/>
                </a:solidFill>
                <a:latin typeface="Arimo"/>
                <a:ea typeface="Arimo"/>
                <a:cs typeface="Arimo"/>
                <a:sym typeface="Arimo"/>
              </a:rPr>
              <a:t>Branch B: Strategic Forecasting</a:t>
            </a:r>
          </a:p>
        </p:txBody>
      </p:sp>
      <p:sp>
        <p:nvSpPr>
          <p:cNvPr name="TextBox 11" id="11"/>
          <p:cNvSpPr txBox="true"/>
          <p:nvPr/>
        </p:nvSpPr>
        <p:spPr>
          <a:xfrm rot="0">
            <a:off x="992238" y="2627709"/>
            <a:ext cx="7791602" cy="427139"/>
          </a:xfrm>
          <a:prstGeom prst="rect">
            <a:avLst/>
          </a:prstGeom>
        </p:spPr>
        <p:txBody>
          <a:bodyPr anchor="t" rtlCol="false" tIns="0" lIns="0" bIns="0" rIns="0">
            <a:spAutoFit/>
          </a:bodyPr>
          <a:lstStyle/>
          <a:p>
            <a:pPr algn="l">
              <a:lnSpc>
                <a:spcPts val="3124"/>
              </a:lnSpc>
            </a:pPr>
            <a:r>
              <a:rPr lang="en-US" sz="2499">
                <a:solidFill>
                  <a:srgbClr val="97B8FF"/>
                </a:solidFill>
                <a:latin typeface="Arimo"/>
                <a:ea typeface="Arimo"/>
                <a:cs typeface="Arimo"/>
                <a:sym typeface="Arimo"/>
              </a:rPr>
              <a:t>Temporal Fusion Transformer with Quantile Loss</a:t>
            </a:r>
          </a:p>
        </p:txBody>
      </p:sp>
      <p:sp>
        <p:nvSpPr>
          <p:cNvPr name="TextBox 12" id="12"/>
          <p:cNvSpPr txBox="true"/>
          <p:nvPr/>
        </p:nvSpPr>
        <p:spPr>
          <a:xfrm rot="0">
            <a:off x="992238" y="3332559"/>
            <a:ext cx="9445523" cy="842372"/>
          </a:xfrm>
          <a:prstGeom prst="rect">
            <a:avLst/>
          </a:prstGeom>
        </p:spPr>
        <p:txBody>
          <a:bodyPr anchor="t" rtlCol="false" tIns="0" lIns="0" bIns="0" rIns="0">
            <a:spAutoFit/>
          </a:bodyPr>
          <a:lstStyle/>
          <a:p>
            <a:pPr algn="l">
              <a:lnSpc>
                <a:spcPts val="3000"/>
              </a:lnSpc>
            </a:pPr>
            <a:r>
              <a:rPr lang="en-US" sz="2000">
                <a:solidFill>
                  <a:srgbClr val="E0D6DE"/>
                </a:solidFill>
                <a:latin typeface="Noto Sans"/>
                <a:ea typeface="Noto Sans"/>
                <a:cs typeface="Noto Sans"/>
                <a:sym typeface="Noto Sans"/>
              </a:rPr>
              <a:t>The TFT handles static metadata alongside past prices, producing probabilistic forecasts via quantile loss function.</a:t>
            </a:r>
          </a:p>
        </p:txBody>
      </p:sp>
      <p:grpSp>
        <p:nvGrpSpPr>
          <p:cNvPr name="Group 13" id="13"/>
          <p:cNvGrpSpPr/>
          <p:nvPr/>
        </p:nvGrpSpPr>
        <p:grpSpPr>
          <a:xfrm rot="0">
            <a:off x="992238" y="4433297"/>
            <a:ext cx="1275902" cy="1822104"/>
            <a:chOff x="0" y="0"/>
            <a:chExt cx="1701203" cy="2429472"/>
          </a:xfrm>
        </p:grpSpPr>
        <p:sp>
          <p:nvSpPr>
            <p:cNvPr name="Freeform 14" id="14" descr="preencoded.png"/>
            <p:cNvSpPr/>
            <p:nvPr/>
          </p:nvSpPr>
          <p:spPr>
            <a:xfrm flipH="false" flipV="false" rot="0">
              <a:off x="0" y="0"/>
              <a:ext cx="1701165" cy="2429510"/>
            </a:xfrm>
            <a:custGeom>
              <a:avLst/>
              <a:gdLst/>
              <a:ahLst/>
              <a:cxnLst/>
              <a:rect r="r" b="b" t="t" l="l"/>
              <a:pathLst>
                <a:path h="2429510" w="1701165">
                  <a:moveTo>
                    <a:pt x="0" y="0"/>
                  </a:moveTo>
                  <a:lnTo>
                    <a:pt x="1701165" y="0"/>
                  </a:lnTo>
                  <a:lnTo>
                    <a:pt x="1701165" y="2429510"/>
                  </a:lnTo>
                  <a:lnTo>
                    <a:pt x="0" y="2429510"/>
                  </a:lnTo>
                  <a:lnTo>
                    <a:pt x="0" y="0"/>
                  </a:lnTo>
                  <a:close/>
                </a:path>
              </a:pathLst>
            </a:custGeom>
            <a:blipFill>
              <a:blip r:embed="rId7"/>
              <a:stretch>
                <a:fillRect l="-95" t="0" r="-97" b="1"/>
              </a:stretch>
            </a:blipFill>
          </p:spPr>
        </p:sp>
      </p:grpSp>
      <p:sp>
        <p:nvSpPr>
          <p:cNvPr name="TextBox 15" id="15"/>
          <p:cNvSpPr txBox="true"/>
          <p:nvPr/>
        </p:nvSpPr>
        <p:spPr>
          <a:xfrm rot="0">
            <a:off x="2497779" y="4659811"/>
            <a:ext cx="3189684" cy="427139"/>
          </a:xfrm>
          <a:prstGeom prst="rect">
            <a:avLst/>
          </a:prstGeom>
        </p:spPr>
        <p:txBody>
          <a:bodyPr anchor="t" rtlCol="false" tIns="0" lIns="0" bIns="0" rIns="0">
            <a:spAutoFit/>
          </a:bodyPr>
          <a:lstStyle/>
          <a:p>
            <a:pPr algn="l">
              <a:lnSpc>
                <a:spcPts val="3124"/>
              </a:lnSpc>
            </a:pPr>
            <a:r>
              <a:rPr lang="en-US" sz="2499">
                <a:solidFill>
                  <a:srgbClr val="E0D6DE"/>
                </a:solidFill>
                <a:latin typeface="Arimo"/>
                <a:ea typeface="Arimo"/>
                <a:cs typeface="Arimo"/>
                <a:sym typeface="Arimo"/>
              </a:rPr>
              <a:t>Quantile Loss</a:t>
            </a:r>
          </a:p>
        </p:txBody>
      </p:sp>
      <p:sp>
        <p:nvSpPr>
          <p:cNvPr name="TextBox 16" id="16"/>
          <p:cNvSpPr txBox="true"/>
          <p:nvPr/>
        </p:nvSpPr>
        <p:spPr>
          <a:xfrm rot="0">
            <a:off x="2497779" y="5157940"/>
            <a:ext cx="7939983" cy="842372"/>
          </a:xfrm>
          <a:prstGeom prst="rect">
            <a:avLst/>
          </a:prstGeom>
        </p:spPr>
        <p:txBody>
          <a:bodyPr anchor="t" rtlCol="false" tIns="0" lIns="0" bIns="0" rIns="0">
            <a:spAutoFit/>
          </a:bodyPr>
          <a:lstStyle/>
          <a:p>
            <a:pPr algn="l">
              <a:lnSpc>
                <a:spcPts val="3000"/>
              </a:lnSpc>
            </a:pPr>
            <a:r>
              <a:rPr lang="en-US" sz="2000">
                <a:solidFill>
                  <a:srgbClr val="E0D6DE"/>
                </a:solidFill>
                <a:latin typeface="Noto Sans"/>
                <a:ea typeface="Noto Sans"/>
                <a:cs typeface="Noto Sans"/>
                <a:sym typeface="Noto Sans"/>
              </a:rPr>
              <a:t>Generates confidence intervals (10%, 50%, 90%) instead of single price predictions</a:t>
            </a:r>
          </a:p>
        </p:txBody>
      </p:sp>
      <p:grpSp>
        <p:nvGrpSpPr>
          <p:cNvPr name="Group 17" id="17"/>
          <p:cNvGrpSpPr/>
          <p:nvPr/>
        </p:nvGrpSpPr>
        <p:grpSpPr>
          <a:xfrm rot="0">
            <a:off x="992238" y="6255391"/>
            <a:ext cx="1275902" cy="1530991"/>
            <a:chOff x="0" y="0"/>
            <a:chExt cx="1701203" cy="2041322"/>
          </a:xfrm>
        </p:grpSpPr>
        <p:sp>
          <p:nvSpPr>
            <p:cNvPr name="Freeform 18" id="18" descr="preencoded.png"/>
            <p:cNvSpPr/>
            <p:nvPr/>
          </p:nvSpPr>
          <p:spPr>
            <a:xfrm flipH="false" flipV="false" rot="0">
              <a:off x="0" y="0"/>
              <a:ext cx="1701165" cy="2041271"/>
            </a:xfrm>
            <a:custGeom>
              <a:avLst/>
              <a:gdLst/>
              <a:ahLst/>
              <a:cxnLst/>
              <a:rect r="r" b="b" t="t" l="l"/>
              <a:pathLst>
                <a:path h="2041271" w="1701165">
                  <a:moveTo>
                    <a:pt x="0" y="0"/>
                  </a:moveTo>
                  <a:lnTo>
                    <a:pt x="1701165" y="0"/>
                  </a:lnTo>
                  <a:lnTo>
                    <a:pt x="1701165" y="2041271"/>
                  </a:lnTo>
                  <a:lnTo>
                    <a:pt x="0" y="2041271"/>
                  </a:lnTo>
                  <a:lnTo>
                    <a:pt x="0" y="0"/>
                  </a:lnTo>
                  <a:close/>
                </a:path>
              </a:pathLst>
            </a:custGeom>
            <a:blipFill>
              <a:blip r:embed="rId8"/>
              <a:stretch>
                <a:fillRect l="0" t="-65" r="-2" b="-67"/>
              </a:stretch>
            </a:blipFill>
          </p:spPr>
        </p:sp>
      </p:grpSp>
      <p:sp>
        <p:nvSpPr>
          <p:cNvPr name="TextBox 19" id="19"/>
          <p:cNvSpPr txBox="true"/>
          <p:nvPr/>
        </p:nvSpPr>
        <p:spPr>
          <a:xfrm rot="0">
            <a:off x="2497779" y="6481915"/>
            <a:ext cx="4359478" cy="427139"/>
          </a:xfrm>
          <a:prstGeom prst="rect">
            <a:avLst/>
          </a:prstGeom>
        </p:spPr>
        <p:txBody>
          <a:bodyPr anchor="t" rtlCol="false" tIns="0" lIns="0" bIns="0" rIns="0">
            <a:spAutoFit/>
          </a:bodyPr>
          <a:lstStyle/>
          <a:p>
            <a:pPr algn="l">
              <a:lnSpc>
                <a:spcPts val="3124"/>
              </a:lnSpc>
            </a:pPr>
            <a:r>
              <a:rPr lang="en-US" sz="2499">
                <a:solidFill>
                  <a:srgbClr val="E0D6DE"/>
                </a:solidFill>
                <a:latin typeface="Arimo"/>
                <a:ea typeface="Arimo"/>
                <a:cs typeface="Arimo"/>
                <a:sym typeface="Arimo"/>
              </a:rPr>
              <a:t>Uncertainty Quantification</a:t>
            </a:r>
          </a:p>
        </p:txBody>
      </p:sp>
      <p:sp>
        <p:nvSpPr>
          <p:cNvPr name="TextBox 20" id="20"/>
          <p:cNvSpPr txBox="true"/>
          <p:nvPr/>
        </p:nvSpPr>
        <p:spPr>
          <a:xfrm rot="0">
            <a:off x="2497779" y="6980034"/>
            <a:ext cx="7939983" cy="454523"/>
          </a:xfrm>
          <a:prstGeom prst="rect">
            <a:avLst/>
          </a:prstGeom>
        </p:spPr>
        <p:txBody>
          <a:bodyPr anchor="t" rtlCol="false" tIns="0" lIns="0" bIns="0" rIns="0">
            <a:spAutoFit/>
          </a:bodyPr>
          <a:lstStyle/>
          <a:p>
            <a:pPr algn="l">
              <a:lnSpc>
                <a:spcPts val="3000"/>
              </a:lnSpc>
            </a:pPr>
            <a:r>
              <a:rPr lang="en-US" sz="2000">
                <a:solidFill>
                  <a:srgbClr val="E0D6DE"/>
                </a:solidFill>
                <a:latin typeface="Noto Sans"/>
                <a:ea typeface="Noto Sans"/>
                <a:cs typeface="Noto Sans"/>
                <a:sym typeface="Noto Sans"/>
              </a:rPr>
              <a:t>Provides mathematical boundaries for fuzzy logic risk manager</a:t>
            </a:r>
          </a:p>
        </p:txBody>
      </p:sp>
      <p:grpSp>
        <p:nvGrpSpPr>
          <p:cNvPr name="Group 21" id="21"/>
          <p:cNvGrpSpPr/>
          <p:nvPr/>
        </p:nvGrpSpPr>
        <p:grpSpPr>
          <a:xfrm rot="0">
            <a:off x="992238" y="7786392"/>
            <a:ext cx="1275902" cy="1530991"/>
            <a:chOff x="0" y="0"/>
            <a:chExt cx="1701203" cy="2041322"/>
          </a:xfrm>
        </p:grpSpPr>
        <p:sp>
          <p:nvSpPr>
            <p:cNvPr name="Freeform 22" id="22" descr="preencoded.png"/>
            <p:cNvSpPr/>
            <p:nvPr/>
          </p:nvSpPr>
          <p:spPr>
            <a:xfrm flipH="false" flipV="false" rot="0">
              <a:off x="0" y="0"/>
              <a:ext cx="1701165" cy="2041271"/>
            </a:xfrm>
            <a:custGeom>
              <a:avLst/>
              <a:gdLst/>
              <a:ahLst/>
              <a:cxnLst/>
              <a:rect r="r" b="b" t="t" l="l"/>
              <a:pathLst>
                <a:path h="2041271" w="1701165">
                  <a:moveTo>
                    <a:pt x="0" y="0"/>
                  </a:moveTo>
                  <a:lnTo>
                    <a:pt x="1701165" y="0"/>
                  </a:lnTo>
                  <a:lnTo>
                    <a:pt x="1701165" y="2041271"/>
                  </a:lnTo>
                  <a:lnTo>
                    <a:pt x="0" y="2041271"/>
                  </a:lnTo>
                  <a:lnTo>
                    <a:pt x="0" y="0"/>
                  </a:lnTo>
                  <a:close/>
                </a:path>
              </a:pathLst>
            </a:custGeom>
            <a:blipFill>
              <a:blip r:embed="rId9"/>
              <a:stretch>
                <a:fillRect l="0" t="-65" r="-2" b="-67"/>
              </a:stretch>
            </a:blipFill>
          </p:spPr>
        </p:sp>
      </p:grpSp>
      <p:sp>
        <p:nvSpPr>
          <p:cNvPr name="TextBox 23" id="23"/>
          <p:cNvSpPr txBox="true"/>
          <p:nvPr/>
        </p:nvSpPr>
        <p:spPr>
          <a:xfrm rot="0">
            <a:off x="2497779" y="8012906"/>
            <a:ext cx="3189684" cy="427139"/>
          </a:xfrm>
          <a:prstGeom prst="rect">
            <a:avLst/>
          </a:prstGeom>
        </p:spPr>
        <p:txBody>
          <a:bodyPr anchor="t" rtlCol="false" tIns="0" lIns="0" bIns="0" rIns="0">
            <a:spAutoFit/>
          </a:bodyPr>
          <a:lstStyle/>
          <a:p>
            <a:pPr algn="l">
              <a:lnSpc>
                <a:spcPts val="3124"/>
              </a:lnSpc>
            </a:pPr>
            <a:r>
              <a:rPr lang="en-US" sz="2499">
                <a:solidFill>
                  <a:srgbClr val="E0D6DE"/>
                </a:solidFill>
                <a:latin typeface="Arimo"/>
                <a:ea typeface="Arimo"/>
                <a:cs typeface="Arimo"/>
                <a:sym typeface="Arimo"/>
              </a:rPr>
              <a:t>Position Sizing</a:t>
            </a:r>
          </a:p>
        </p:txBody>
      </p:sp>
      <p:sp>
        <p:nvSpPr>
          <p:cNvPr name="TextBox 24" id="24"/>
          <p:cNvSpPr txBox="true"/>
          <p:nvPr/>
        </p:nvSpPr>
        <p:spPr>
          <a:xfrm rot="0">
            <a:off x="2497779" y="8511035"/>
            <a:ext cx="7939983" cy="454523"/>
          </a:xfrm>
          <a:prstGeom prst="rect">
            <a:avLst/>
          </a:prstGeom>
        </p:spPr>
        <p:txBody>
          <a:bodyPr anchor="t" rtlCol="false" tIns="0" lIns="0" bIns="0" rIns="0">
            <a:spAutoFit/>
          </a:bodyPr>
          <a:lstStyle/>
          <a:p>
            <a:pPr algn="l">
              <a:lnSpc>
                <a:spcPts val="3000"/>
              </a:lnSpc>
            </a:pPr>
            <a:r>
              <a:rPr lang="en-US" sz="2000">
                <a:solidFill>
                  <a:srgbClr val="E0D6DE"/>
                </a:solidFill>
                <a:latin typeface="Noto Sans"/>
                <a:ea typeface="Noto Sans"/>
                <a:cs typeface="Noto Sans"/>
                <a:sym typeface="Noto Sans"/>
              </a:rPr>
              <a:t>Enables precise position sizing based on market uncertainty levels</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07070C"/>
            </a:solidFill>
          </p:spPr>
        </p:sp>
      </p:grpSp>
      <p:grpSp>
        <p:nvGrpSpPr>
          <p:cNvPr name="Group 6" id="6"/>
          <p:cNvGrpSpPr/>
          <p:nvPr/>
        </p:nvGrpSpPr>
        <p:grpSpPr>
          <a:xfrm rot="0">
            <a:off x="16049015" y="9686925"/>
            <a:ext cx="2153260" cy="514350"/>
            <a:chOff x="0" y="0"/>
            <a:chExt cx="2871013" cy="685800"/>
          </a:xfrm>
        </p:grpSpPr>
        <p:sp>
          <p:nvSpPr>
            <p:cNvPr name="Freeform 7" id="7" descr="preencoded.png">
              <a:hlinkClick r:id="rId4" tooltip="https://gamma.app/?utm_source=made-with-gamma"/>
            </p:cNvPr>
            <p:cNvSpPr/>
            <p:nvPr/>
          </p:nvSpPr>
          <p:spPr>
            <a:xfrm flipH="false" flipV="false" rot="0">
              <a:off x="0" y="0"/>
              <a:ext cx="2870962" cy="685800"/>
            </a:xfrm>
            <a:custGeom>
              <a:avLst/>
              <a:gdLst/>
              <a:ahLst/>
              <a:cxnLst/>
              <a:rect r="r" b="b" t="t" l="l"/>
              <a:pathLst>
                <a:path h="685800" w="2870962">
                  <a:moveTo>
                    <a:pt x="0" y="0"/>
                  </a:moveTo>
                  <a:lnTo>
                    <a:pt x="2870962" y="0"/>
                  </a:lnTo>
                  <a:lnTo>
                    <a:pt x="2870962" y="685800"/>
                  </a:lnTo>
                  <a:lnTo>
                    <a:pt x="0" y="685800"/>
                  </a:lnTo>
                  <a:lnTo>
                    <a:pt x="0" y="0"/>
                  </a:lnTo>
                  <a:close/>
                </a:path>
              </a:pathLst>
            </a:custGeom>
            <a:blipFill>
              <a:blip r:embed="rId5"/>
              <a:stretch>
                <a:fillRect l="0" t="0" r="-1" b="0"/>
              </a:stretch>
            </a:blipFill>
          </p:spPr>
        </p:sp>
      </p:grpSp>
      <p:grpSp>
        <p:nvGrpSpPr>
          <p:cNvPr name="Group 8" id="8"/>
          <p:cNvGrpSpPr/>
          <p:nvPr/>
        </p:nvGrpSpPr>
        <p:grpSpPr>
          <a:xfrm rot="0">
            <a:off x="11430000" y="0"/>
            <a:ext cx="6858000" cy="10287000"/>
            <a:chOff x="0" y="0"/>
            <a:chExt cx="9144000" cy="13716000"/>
          </a:xfrm>
        </p:grpSpPr>
        <p:sp>
          <p:nvSpPr>
            <p:cNvPr name="Freeform 9" id="9" descr="preencoded.png"/>
            <p:cNvSpPr/>
            <p:nvPr/>
          </p:nvSpPr>
          <p:spPr>
            <a:xfrm flipH="false" flipV="false" rot="0">
              <a:off x="0" y="0"/>
              <a:ext cx="9144000" cy="13716000"/>
            </a:xfrm>
            <a:custGeom>
              <a:avLst/>
              <a:gdLst/>
              <a:ahLst/>
              <a:cxnLst/>
              <a:rect r="r" b="b" t="t" l="l"/>
              <a:pathLst>
                <a:path h="13716000" w="9144000">
                  <a:moveTo>
                    <a:pt x="0" y="0"/>
                  </a:moveTo>
                  <a:lnTo>
                    <a:pt x="9144000" y="0"/>
                  </a:lnTo>
                  <a:lnTo>
                    <a:pt x="9144000" y="13716000"/>
                  </a:lnTo>
                  <a:lnTo>
                    <a:pt x="0" y="13716000"/>
                  </a:lnTo>
                  <a:lnTo>
                    <a:pt x="0" y="0"/>
                  </a:lnTo>
                  <a:close/>
                </a:path>
              </a:pathLst>
            </a:custGeom>
            <a:blipFill>
              <a:blip r:embed="rId6"/>
              <a:stretch>
                <a:fillRect l="0" t="0" r="0" b="0"/>
              </a:stretch>
            </a:blipFill>
          </p:spPr>
        </p:sp>
      </p:grpSp>
      <p:sp>
        <p:nvSpPr>
          <p:cNvPr name="TextBox 10" id="10"/>
          <p:cNvSpPr txBox="true"/>
          <p:nvPr/>
        </p:nvSpPr>
        <p:spPr>
          <a:xfrm rot="0">
            <a:off x="992238" y="1772841"/>
            <a:ext cx="9445523" cy="1829095"/>
          </a:xfrm>
          <a:prstGeom prst="rect">
            <a:avLst/>
          </a:prstGeom>
        </p:spPr>
        <p:txBody>
          <a:bodyPr anchor="t" rtlCol="false" tIns="0" lIns="0" bIns="0" rIns="0">
            <a:spAutoFit/>
          </a:bodyPr>
          <a:lstStyle/>
          <a:p>
            <a:pPr algn="l">
              <a:lnSpc>
                <a:spcPts val="6937"/>
              </a:lnSpc>
            </a:pPr>
            <a:r>
              <a:rPr lang="en-US" sz="5562">
                <a:solidFill>
                  <a:srgbClr val="97B8FF"/>
                </a:solidFill>
                <a:latin typeface="Arimo"/>
                <a:ea typeface="Arimo"/>
                <a:cs typeface="Arimo"/>
                <a:sym typeface="Arimo"/>
              </a:rPr>
              <a:t>Branch C: Memory &amp; Trends</a:t>
            </a:r>
          </a:p>
        </p:txBody>
      </p:sp>
      <p:sp>
        <p:nvSpPr>
          <p:cNvPr name="TextBox 11" id="11"/>
          <p:cNvSpPr txBox="true"/>
          <p:nvPr/>
        </p:nvSpPr>
        <p:spPr>
          <a:xfrm rot="0">
            <a:off x="992238" y="4272553"/>
            <a:ext cx="4376890" cy="923925"/>
          </a:xfrm>
          <a:prstGeom prst="rect">
            <a:avLst/>
          </a:prstGeom>
        </p:spPr>
        <p:txBody>
          <a:bodyPr anchor="t" rtlCol="false" tIns="0" lIns="0" bIns="0" rIns="0">
            <a:spAutoFit/>
          </a:bodyPr>
          <a:lstStyle/>
          <a:p>
            <a:pPr algn="l">
              <a:lnSpc>
                <a:spcPts val="3437"/>
              </a:lnSpc>
            </a:pPr>
            <a:r>
              <a:rPr lang="en-US" sz="2750">
                <a:solidFill>
                  <a:srgbClr val="97B8FF"/>
                </a:solidFill>
                <a:latin typeface="Arimo"/>
                <a:ea typeface="Arimo"/>
                <a:cs typeface="Arimo"/>
                <a:sym typeface="Arimo"/>
              </a:rPr>
              <a:t>Transductive LSTM (TLSTM)</a:t>
            </a:r>
          </a:p>
        </p:txBody>
      </p:sp>
      <p:sp>
        <p:nvSpPr>
          <p:cNvPr name="TextBox 12" id="12"/>
          <p:cNvSpPr txBox="true"/>
          <p:nvPr/>
        </p:nvSpPr>
        <p:spPr>
          <a:xfrm rot="0">
            <a:off x="992238" y="5394274"/>
            <a:ext cx="4376890" cy="2807494"/>
          </a:xfrm>
          <a:prstGeom prst="rect">
            <a:avLst/>
          </a:prstGeom>
        </p:spPr>
        <p:txBody>
          <a:bodyPr anchor="t" rtlCol="false" tIns="0" lIns="0" bIns="0" rIns="0">
            <a:spAutoFit/>
          </a:bodyPr>
          <a:lstStyle/>
          <a:p>
            <a:pPr algn="l">
              <a:lnSpc>
                <a:spcPts val="3562"/>
              </a:lnSpc>
            </a:pPr>
            <a:r>
              <a:rPr lang="en-US" sz="2187">
                <a:solidFill>
                  <a:srgbClr val="E0D6DE"/>
                </a:solidFill>
                <a:latin typeface="Noto Sans"/>
                <a:ea typeface="Noto Sans"/>
                <a:cs typeface="Noto Sans"/>
                <a:sym typeface="Noto Sans"/>
              </a:rPr>
              <a:t>Standard LSTMs apply rigid global rules from training data. TLSTM dynamically modulates parameters based on similarity to recent data, prioritizing immediate temporal patterns.</a:t>
            </a:r>
          </a:p>
        </p:txBody>
      </p:sp>
      <p:sp>
        <p:nvSpPr>
          <p:cNvPr name="TextBox 13" id="13"/>
          <p:cNvSpPr txBox="true"/>
          <p:nvPr/>
        </p:nvSpPr>
        <p:spPr>
          <a:xfrm rot="0">
            <a:off x="6070397" y="4272553"/>
            <a:ext cx="4376890" cy="923925"/>
          </a:xfrm>
          <a:prstGeom prst="rect">
            <a:avLst/>
          </a:prstGeom>
        </p:spPr>
        <p:txBody>
          <a:bodyPr anchor="t" rtlCol="false" tIns="0" lIns="0" bIns="0" rIns="0">
            <a:spAutoFit/>
          </a:bodyPr>
          <a:lstStyle/>
          <a:p>
            <a:pPr algn="l">
              <a:lnSpc>
                <a:spcPts val="3437"/>
              </a:lnSpc>
            </a:pPr>
            <a:r>
              <a:rPr lang="en-US" sz="2750">
                <a:solidFill>
                  <a:srgbClr val="97B8FF"/>
                </a:solidFill>
                <a:latin typeface="Arimo"/>
                <a:ea typeface="Arimo"/>
                <a:cs typeface="Arimo"/>
                <a:sym typeface="Arimo"/>
              </a:rPr>
              <a:t>Hybrid LSTM-Transformer</a:t>
            </a:r>
          </a:p>
        </p:txBody>
      </p:sp>
      <p:sp>
        <p:nvSpPr>
          <p:cNvPr name="TextBox 14" id="14"/>
          <p:cNvSpPr txBox="true"/>
          <p:nvPr/>
        </p:nvSpPr>
        <p:spPr>
          <a:xfrm rot="0">
            <a:off x="6070397" y="5394274"/>
            <a:ext cx="4376890" cy="2807494"/>
          </a:xfrm>
          <a:prstGeom prst="rect">
            <a:avLst/>
          </a:prstGeom>
        </p:spPr>
        <p:txBody>
          <a:bodyPr anchor="t" rtlCol="false" tIns="0" lIns="0" bIns="0" rIns="0">
            <a:spAutoFit/>
          </a:bodyPr>
          <a:lstStyle/>
          <a:p>
            <a:pPr algn="l">
              <a:lnSpc>
                <a:spcPts val="3562"/>
              </a:lnSpc>
            </a:pPr>
            <a:r>
              <a:rPr lang="en-US" sz="2187">
                <a:solidFill>
                  <a:srgbClr val="E0D6DE"/>
                </a:solidFill>
                <a:latin typeface="Noto Sans"/>
                <a:ea typeface="Noto Sans"/>
                <a:cs typeface="Noto Sans"/>
                <a:sym typeface="Noto Sans"/>
              </a:rPr>
              <a:t>Integrates localized sequential learning of LSTM with global contextual awareness of Transformer, significantly outperforming standalone LSTMs.</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sp>
        <p:nvSpPr>
          <p:cNvPr name="TextBox 4" id="4"/>
          <p:cNvSpPr txBox="true"/>
          <p:nvPr/>
        </p:nvSpPr>
        <p:spPr>
          <a:xfrm rot="0">
            <a:off x="992238" y="913209"/>
            <a:ext cx="10925623" cy="943127"/>
          </a:xfrm>
          <a:prstGeom prst="rect">
            <a:avLst/>
          </a:prstGeom>
        </p:spPr>
        <p:txBody>
          <a:bodyPr anchor="t" rtlCol="false" tIns="0" lIns="0" bIns="0" rIns="0">
            <a:spAutoFit/>
          </a:bodyPr>
          <a:lstStyle/>
          <a:p>
            <a:pPr algn="l">
              <a:lnSpc>
                <a:spcPts val="6937"/>
              </a:lnSpc>
            </a:pPr>
            <a:r>
              <a:rPr lang="en-US" sz="5562">
                <a:solidFill>
                  <a:srgbClr val="97B8FF"/>
                </a:solidFill>
                <a:latin typeface="Arimo"/>
                <a:ea typeface="Arimo"/>
                <a:cs typeface="Arimo"/>
                <a:sym typeface="Arimo"/>
              </a:rPr>
              <a:t>Branch D: Relational Networks</a:t>
            </a:r>
          </a:p>
        </p:txBody>
      </p:sp>
      <p:sp>
        <p:nvSpPr>
          <p:cNvPr name="TextBox 5" id="5"/>
          <p:cNvSpPr txBox="true"/>
          <p:nvPr/>
        </p:nvSpPr>
        <p:spPr>
          <a:xfrm rot="0">
            <a:off x="992238" y="1931641"/>
            <a:ext cx="8525170" cy="481012"/>
          </a:xfrm>
          <a:prstGeom prst="rect">
            <a:avLst/>
          </a:prstGeom>
        </p:spPr>
        <p:txBody>
          <a:bodyPr anchor="t" rtlCol="false" tIns="0" lIns="0" bIns="0" rIns="0">
            <a:spAutoFit/>
          </a:bodyPr>
          <a:lstStyle/>
          <a:p>
            <a:pPr algn="l">
              <a:lnSpc>
                <a:spcPts val="3437"/>
              </a:lnSpc>
            </a:pPr>
            <a:r>
              <a:rPr lang="en-US" sz="2750">
                <a:solidFill>
                  <a:srgbClr val="97B8FF"/>
                </a:solidFill>
                <a:latin typeface="Arimo"/>
                <a:ea typeface="Arimo"/>
                <a:cs typeface="Arimo"/>
                <a:sym typeface="Arimo"/>
              </a:rPr>
              <a:t>SM2PNet / TRNet using Graph Neural Networks</a:t>
            </a:r>
          </a:p>
        </p:txBody>
      </p:sp>
      <p:sp>
        <p:nvSpPr>
          <p:cNvPr name="TextBox 6" id="6"/>
          <p:cNvSpPr txBox="true"/>
          <p:nvPr/>
        </p:nvSpPr>
        <p:spPr>
          <a:xfrm rot="0">
            <a:off x="2746772" y="3359791"/>
            <a:ext cx="3544043" cy="481012"/>
          </a:xfrm>
          <a:prstGeom prst="rect">
            <a:avLst/>
          </a:prstGeom>
        </p:spPr>
        <p:txBody>
          <a:bodyPr anchor="t" rtlCol="false" tIns="0" lIns="0" bIns="0" rIns="0">
            <a:spAutoFit/>
          </a:bodyPr>
          <a:lstStyle/>
          <a:p>
            <a:pPr algn="r">
              <a:lnSpc>
                <a:spcPts val="3437"/>
              </a:lnSpc>
            </a:pPr>
            <a:r>
              <a:rPr lang="en-US" sz="2750">
                <a:solidFill>
                  <a:srgbClr val="E0D6DE"/>
                </a:solidFill>
                <a:latin typeface="Arimo"/>
                <a:ea typeface="Arimo"/>
                <a:cs typeface="Arimo"/>
                <a:sym typeface="Arimo"/>
              </a:rPr>
              <a:t>Adjacency Matrix</a:t>
            </a:r>
          </a:p>
        </p:txBody>
      </p:sp>
      <p:sp>
        <p:nvSpPr>
          <p:cNvPr name="TextBox 7" id="7"/>
          <p:cNvSpPr txBox="true"/>
          <p:nvPr/>
        </p:nvSpPr>
        <p:spPr>
          <a:xfrm rot="0">
            <a:off x="992238" y="3925195"/>
            <a:ext cx="5298577" cy="992981"/>
          </a:xfrm>
          <a:prstGeom prst="rect">
            <a:avLst/>
          </a:prstGeom>
        </p:spPr>
        <p:txBody>
          <a:bodyPr anchor="t" rtlCol="false" tIns="0" lIns="0" bIns="0" rIns="0">
            <a:spAutoFit/>
          </a:bodyPr>
          <a:lstStyle/>
          <a:p>
            <a:pPr algn="r">
              <a:lnSpc>
                <a:spcPts val="3562"/>
              </a:lnSpc>
            </a:pPr>
            <a:r>
              <a:rPr lang="en-US" sz="2187">
                <a:solidFill>
                  <a:srgbClr val="E0D6DE"/>
                </a:solidFill>
                <a:latin typeface="Noto Sans"/>
                <a:ea typeface="Noto Sans"/>
                <a:cs typeface="Noto Sans"/>
                <a:sym typeface="Noto Sans"/>
              </a:rPr>
              <a:t>Constructed using Pearson's correlation coefficient</a:t>
            </a:r>
          </a:p>
        </p:txBody>
      </p:sp>
      <p:grpSp>
        <p:nvGrpSpPr>
          <p:cNvPr name="Group 8" id="8"/>
          <p:cNvGrpSpPr/>
          <p:nvPr/>
        </p:nvGrpSpPr>
        <p:grpSpPr>
          <a:xfrm rot="0">
            <a:off x="6290815" y="2837859"/>
            <a:ext cx="5706218" cy="5706218"/>
            <a:chOff x="0" y="0"/>
            <a:chExt cx="7608291" cy="7608291"/>
          </a:xfrm>
        </p:grpSpPr>
        <p:sp>
          <p:nvSpPr>
            <p:cNvPr name="Freeform 9" id="9" descr="preencoded.png"/>
            <p:cNvSpPr/>
            <p:nvPr/>
          </p:nvSpPr>
          <p:spPr>
            <a:xfrm flipH="false" flipV="false" rot="0">
              <a:off x="0" y="0"/>
              <a:ext cx="7608316" cy="7608316"/>
            </a:xfrm>
            <a:custGeom>
              <a:avLst/>
              <a:gdLst/>
              <a:ahLst/>
              <a:cxnLst/>
              <a:rect r="r" b="b" t="t" l="l"/>
              <a:pathLst>
                <a:path h="7608316" w="7608316">
                  <a:moveTo>
                    <a:pt x="0" y="0"/>
                  </a:moveTo>
                  <a:lnTo>
                    <a:pt x="7608316" y="0"/>
                  </a:lnTo>
                  <a:lnTo>
                    <a:pt x="7608316" y="7608316"/>
                  </a:lnTo>
                  <a:lnTo>
                    <a:pt x="0" y="7608316"/>
                  </a:lnTo>
                  <a:lnTo>
                    <a:pt x="0" y="0"/>
                  </a:lnTo>
                  <a:close/>
                </a:path>
              </a:pathLst>
            </a:custGeom>
            <a:blipFill>
              <a:blip r:embed="rId4"/>
              <a:stretch>
                <a:fillRect l="0" t="0" r="0" b="0"/>
              </a:stretch>
            </a:blipFill>
          </p:spPr>
        </p:sp>
      </p:grpSp>
      <p:sp>
        <p:nvSpPr>
          <p:cNvPr name="Freeform 10" id="10" descr="preencoded.png"/>
          <p:cNvSpPr/>
          <p:nvPr/>
        </p:nvSpPr>
        <p:spPr>
          <a:xfrm flipH="false" flipV="false" rot="0">
            <a:off x="7905455" y="4452490"/>
            <a:ext cx="398707" cy="398707"/>
          </a:xfrm>
          <a:custGeom>
            <a:avLst/>
            <a:gdLst/>
            <a:ahLst/>
            <a:cxnLst/>
            <a:rect r="r" b="b" t="t" l="l"/>
            <a:pathLst>
              <a:path h="398707" w="398707">
                <a:moveTo>
                  <a:pt x="0" y="0"/>
                </a:moveTo>
                <a:lnTo>
                  <a:pt x="398707" y="0"/>
                </a:lnTo>
                <a:lnTo>
                  <a:pt x="398707" y="398707"/>
                </a:lnTo>
                <a:lnTo>
                  <a:pt x="0" y="398707"/>
                </a:lnTo>
                <a:lnTo>
                  <a:pt x="0" y="0"/>
                </a:lnTo>
                <a:close/>
              </a:path>
            </a:pathLst>
          </a:custGeom>
          <a:blipFill>
            <a:blip r:embed="rId5">
              <a:extLst>
                <a:ext uri="{96DAC541-7B7A-43D3-8B79-37D633B846F1}">
                  <asvg:svgBlip xmlns:asvg="http://schemas.microsoft.com/office/drawing/2016/SVG/main" r:embed="rId6"/>
                </a:ext>
              </a:extLst>
            </a:blip>
            <a:stretch>
              <a:fillRect l="0" t="-2381" r="0" b="-2381"/>
            </a:stretch>
          </a:blipFill>
        </p:spPr>
      </p:sp>
      <p:sp>
        <p:nvSpPr>
          <p:cNvPr name="TextBox 11" id="11"/>
          <p:cNvSpPr txBox="true"/>
          <p:nvPr/>
        </p:nvSpPr>
        <p:spPr>
          <a:xfrm rot="0">
            <a:off x="11997033" y="3586610"/>
            <a:ext cx="3544043" cy="481012"/>
          </a:xfrm>
          <a:prstGeom prst="rect">
            <a:avLst/>
          </a:prstGeom>
        </p:spPr>
        <p:txBody>
          <a:bodyPr anchor="t" rtlCol="false" tIns="0" lIns="0" bIns="0" rIns="0">
            <a:spAutoFit/>
          </a:bodyPr>
          <a:lstStyle/>
          <a:p>
            <a:pPr algn="l">
              <a:lnSpc>
                <a:spcPts val="3437"/>
              </a:lnSpc>
            </a:pPr>
            <a:r>
              <a:rPr lang="en-US" sz="2750">
                <a:solidFill>
                  <a:srgbClr val="E0D6DE"/>
                </a:solidFill>
                <a:latin typeface="Arimo"/>
                <a:ea typeface="Arimo"/>
                <a:cs typeface="Arimo"/>
                <a:sym typeface="Arimo"/>
              </a:rPr>
              <a:t>NIFTY 50 Mapping</a:t>
            </a:r>
          </a:p>
        </p:txBody>
      </p:sp>
      <p:sp>
        <p:nvSpPr>
          <p:cNvPr name="TextBox 12" id="12"/>
          <p:cNvSpPr txBox="true"/>
          <p:nvPr/>
        </p:nvSpPr>
        <p:spPr>
          <a:xfrm rot="0">
            <a:off x="11997033" y="4152005"/>
            <a:ext cx="5298729" cy="539353"/>
          </a:xfrm>
          <a:prstGeom prst="rect">
            <a:avLst/>
          </a:prstGeom>
        </p:spPr>
        <p:txBody>
          <a:bodyPr anchor="t" rtlCol="false" tIns="0" lIns="0" bIns="0" rIns="0">
            <a:spAutoFit/>
          </a:bodyPr>
          <a:lstStyle/>
          <a:p>
            <a:pPr algn="l">
              <a:lnSpc>
                <a:spcPts val="3562"/>
              </a:lnSpc>
            </a:pPr>
            <a:r>
              <a:rPr lang="en-US" sz="2187">
                <a:solidFill>
                  <a:srgbClr val="E0D6DE"/>
                </a:solidFill>
                <a:latin typeface="Noto Sans"/>
                <a:ea typeface="Noto Sans"/>
                <a:cs typeface="Noto Sans"/>
                <a:sym typeface="Noto Sans"/>
              </a:rPr>
              <a:t>Maps linkages between peer companies</a:t>
            </a:r>
          </a:p>
        </p:txBody>
      </p:sp>
      <p:grpSp>
        <p:nvGrpSpPr>
          <p:cNvPr name="Group 13" id="13"/>
          <p:cNvGrpSpPr/>
          <p:nvPr/>
        </p:nvGrpSpPr>
        <p:grpSpPr>
          <a:xfrm rot="0">
            <a:off x="6290815" y="2837859"/>
            <a:ext cx="5706218" cy="5706218"/>
            <a:chOff x="0" y="0"/>
            <a:chExt cx="7608291" cy="7608291"/>
          </a:xfrm>
        </p:grpSpPr>
        <p:sp>
          <p:nvSpPr>
            <p:cNvPr name="Freeform 14" id="14" descr="preencoded.png"/>
            <p:cNvSpPr/>
            <p:nvPr/>
          </p:nvSpPr>
          <p:spPr>
            <a:xfrm flipH="false" flipV="false" rot="0">
              <a:off x="0" y="0"/>
              <a:ext cx="7608316" cy="7608316"/>
            </a:xfrm>
            <a:custGeom>
              <a:avLst/>
              <a:gdLst/>
              <a:ahLst/>
              <a:cxnLst/>
              <a:rect r="r" b="b" t="t" l="l"/>
              <a:pathLst>
                <a:path h="7608316" w="7608316">
                  <a:moveTo>
                    <a:pt x="0" y="0"/>
                  </a:moveTo>
                  <a:lnTo>
                    <a:pt x="7608316" y="0"/>
                  </a:lnTo>
                  <a:lnTo>
                    <a:pt x="7608316" y="7608316"/>
                  </a:lnTo>
                  <a:lnTo>
                    <a:pt x="0" y="7608316"/>
                  </a:lnTo>
                  <a:lnTo>
                    <a:pt x="0" y="0"/>
                  </a:lnTo>
                  <a:close/>
                </a:path>
              </a:pathLst>
            </a:custGeom>
            <a:blipFill>
              <a:blip r:embed="rId7"/>
              <a:stretch>
                <a:fillRect l="0" t="0" r="0" b="0"/>
              </a:stretch>
            </a:blipFill>
          </p:spPr>
        </p:sp>
      </p:grpSp>
      <p:sp>
        <p:nvSpPr>
          <p:cNvPr name="Freeform 15" id="15" descr="preencoded.png"/>
          <p:cNvSpPr/>
          <p:nvPr/>
        </p:nvSpPr>
        <p:spPr>
          <a:xfrm flipH="false" flipV="false" rot="0">
            <a:off x="9983391" y="4452490"/>
            <a:ext cx="398707" cy="398707"/>
          </a:xfrm>
          <a:custGeom>
            <a:avLst/>
            <a:gdLst/>
            <a:ahLst/>
            <a:cxnLst/>
            <a:rect r="r" b="b" t="t" l="l"/>
            <a:pathLst>
              <a:path h="398707" w="398707">
                <a:moveTo>
                  <a:pt x="0" y="0"/>
                </a:moveTo>
                <a:lnTo>
                  <a:pt x="398707" y="0"/>
                </a:lnTo>
                <a:lnTo>
                  <a:pt x="398707" y="398707"/>
                </a:lnTo>
                <a:lnTo>
                  <a:pt x="0" y="398707"/>
                </a:lnTo>
                <a:lnTo>
                  <a:pt x="0" y="0"/>
                </a:lnTo>
                <a:close/>
              </a:path>
            </a:pathLst>
          </a:custGeom>
          <a:blipFill>
            <a:blip r:embed="rId8">
              <a:extLst>
                <a:ext uri="{96DAC541-7B7A-43D3-8B79-37D633B846F1}">
                  <asvg:svgBlip xmlns:asvg="http://schemas.microsoft.com/office/drawing/2016/SVG/main" r:embed="rId9"/>
                </a:ext>
              </a:extLst>
            </a:blip>
            <a:stretch>
              <a:fillRect l="-1189" t="0" r="-1192" b="0"/>
            </a:stretch>
          </a:blipFill>
        </p:spPr>
      </p:sp>
      <p:sp>
        <p:nvSpPr>
          <p:cNvPr name="TextBox 16" id="16"/>
          <p:cNvSpPr txBox="true"/>
          <p:nvPr/>
        </p:nvSpPr>
        <p:spPr>
          <a:xfrm rot="0">
            <a:off x="11997033" y="6425508"/>
            <a:ext cx="3616223" cy="481012"/>
          </a:xfrm>
          <a:prstGeom prst="rect">
            <a:avLst/>
          </a:prstGeom>
        </p:spPr>
        <p:txBody>
          <a:bodyPr anchor="t" rtlCol="false" tIns="0" lIns="0" bIns="0" rIns="0">
            <a:spAutoFit/>
          </a:bodyPr>
          <a:lstStyle/>
          <a:p>
            <a:pPr algn="l">
              <a:lnSpc>
                <a:spcPts val="3437"/>
              </a:lnSpc>
            </a:pPr>
            <a:r>
              <a:rPr lang="en-US" sz="2750">
                <a:solidFill>
                  <a:srgbClr val="E0D6DE"/>
                </a:solidFill>
                <a:latin typeface="Arimo"/>
                <a:ea typeface="Arimo"/>
                <a:cs typeface="Arimo"/>
                <a:sym typeface="Arimo"/>
              </a:rPr>
              <a:t>Real-Time Ingestion</a:t>
            </a:r>
          </a:p>
        </p:txBody>
      </p:sp>
      <p:sp>
        <p:nvSpPr>
          <p:cNvPr name="TextBox 17" id="17"/>
          <p:cNvSpPr txBox="true"/>
          <p:nvPr/>
        </p:nvSpPr>
        <p:spPr>
          <a:xfrm rot="0">
            <a:off x="11997033" y="6990902"/>
            <a:ext cx="5298729" cy="992981"/>
          </a:xfrm>
          <a:prstGeom prst="rect">
            <a:avLst/>
          </a:prstGeom>
        </p:spPr>
        <p:txBody>
          <a:bodyPr anchor="t" rtlCol="false" tIns="0" lIns="0" bIns="0" rIns="0">
            <a:spAutoFit/>
          </a:bodyPr>
          <a:lstStyle/>
          <a:p>
            <a:pPr algn="l">
              <a:lnSpc>
                <a:spcPts val="3562"/>
              </a:lnSpc>
            </a:pPr>
            <a:r>
              <a:rPr lang="en-US" sz="2187">
                <a:solidFill>
                  <a:srgbClr val="E0D6DE"/>
                </a:solidFill>
                <a:latin typeface="Noto Sans"/>
                <a:ea typeface="Noto Sans"/>
                <a:cs typeface="Noto Sans"/>
                <a:sym typeface="Noto Sans"/>
              </a:rPr>
              <a:t>Processes correlated peers during live trading</a:t>
            </a:r>
          </a:p>
        </p:txBody>
      </p:sp>
      <p:grpSp>
        <p:nvGrpSpPr>
          <p:cNvPr name="Group 18" id="18"/>
          <p:cNvGrpSpPr/>
          <p:nvPr/>
        </p:nvGrpSpPr>
        <p:grpSpPr>
          <a:xfrm rot="0">
            <a:off x="6290815" y="2837859"/>
            <a:ext cx="5706218" cy="5706218"/>
            <a:chOff x="0" y="0"/>
            <a:chExt cx="7608291" cy="7608291"/>
          </a:xfrm>
        </p:grpSpPr>
        <p:sp>
          <p:nvSpPr>
            <p:cNvPr name="Freeform 19" id="19" descr="preencoded.png"/>
            <p:cNvSpPr/>
            <p:nvPr/>
          </p:nvSpPr>
          <p:spPr>
            <a:xfrm flipH="false" flipV="false" rot="0">
              <a:off x="0" y="0"/>
              <a:ext cx="7608316" cy="7608316"/>
            </a:xfrm>
            <a:custGeom>
              <a:avLst/>
              <a:gdLst/>
              <a:ahLst/>
              <a:cxnLst/>
              <a:rect r="r" b="b" t="t" l="l"/>
              <a:pathLst>
                <a:path h="7608316" w="7608316">
                  <a:moveTo>
                    <a:pt x="0" y="0"/>
                  </a:moveTo>
                  <a:lnTo>
                    <a:pt x="7608316" y="0"/>
                  </a:lnTo>
                  <a:lnTo>
                    <a:pt x="7608316" y="7608316"/>
                  </a:lnTo>
                  <a:lnTo>
                    <a:pt x="0" y="7608316"/>
                  </a:lnTo>
                  <a:lnTo>
                    <a:pt x="0" y="0"/>
                  </a:lnTo>
                  <a:close/>
                </a:path>
              </a:pathLst>
            </a:custGeom>
            <a:blipFill>
              <a:blip r:embed="rId10"/>
              <a:stretch>
                <a:fillRect l="0" t="0" r="0" b="0"/>
              </a:stretch>
            </a:blipFill>
          </p:spPr>
        </p:sp>
      </p:grpSp>
      <p:sp>
        <p:nvSpPr>
          <p:cNvPr name="Freeform 20" id="20" descr="preencoded.png"/>
          <p:cNvSpPr/>
          <p:nvPr/>
        </p:nvSpPr>
        <p:spPr>
          <a:xfrm flipH="false" flipV="false" rot="0">
            <a:off x="9983391" y="6530426"/>
            <a:ext cx="398707" cy="398707"/>
          </a:xfrm>
          <a:custGeom>
            <a:avLst/>
            <a:gdLst/>
            <a:ahLst/>
            <a:cxnLst/>
            <a:rect r="r" b="b" t="t" l="l"/>
            <a:pathLst>
              <a:path h="398707" w="398707">
                <a:moveTo>
                  <a:pt x="0" y="0"/>
                </a:moveTo>
                <a:lnTo>
                  <a:pt x="398707" y="0"/>
                </a:lnTo>
                <a:lnTo>
                  <a:pt x="398707" y="398707"/>
                </a:lnTo>
                <a:lnTo>
                  <a:pt x="0" y="398707"/>
                </a:lnTo>
                <a:lnTo>
                  <a:pt x="0" y="0"/>
                </a:lnTo>
                <a:close/>
              </a:path>
            </a:pathLst>
          </a:custGeom>
          <a:blipFill>
            <a:blip r:embed="rId11">
              <a:extLst>
                <a:ext uri="{96DAC541-7B7A-43D3-8B79-37D633B846F1}">
                  <asvg:svgBlip xmlns:asvg="http://schemas.microsoft.com/office/drawing/2016/SVG/main" r:embed="rId12"/>
                </a:ext>
              </a:extLst>
            </a:blip>
            <a:stretch>
              <a:fillRect l="-5953" t="0" r="-5953" b="0"/>
            </a:stretch>
          </a:blipFill>
        </p:spPr>
      </p:sp>
      <p:sp>
        <p:nvSpPr>
          <p:cNvPr name="TextBox 21" id="21"/>
          <p:cNvSpPr txBox="true"/>
          <p:nvPr/>
        </p:nvSpPr>
        <p:spPr>
          <a:xfrm rot="0">
            <a:off x="2746772" y="6425508"/>
            <a:ext cx="3544043" cy="481012"/>
          </a:xfrm>
          <a:prstGeom prst="rect">
            <a:avLst/>
          </a:prstGeom>
        </p:spPr>
        <p:txBody>
          <a:bodyPr anchor="t" rtlCol="false" tIns="0" lIns="0" bIns="0" rIns="0">
            <a:spAutoFit/>
          </a:bodyPr>
          <a:lstStyle/>
          <a:p>
            <a:pPr algn="r">
              <a:lnSpc>
                <a:spcPts val="3437"/>
              </a:lnSpc>
            </a:pPr>
            <a:r>
              <a:rPr lang="en-US" sz="2750">
                <a:solidFill>
                  <a:srgbClr val="E0D6DE"/>
                </a:solidFill>
                <a:latin typeface="Arimo"/>
                <a:ea typeface="Arimo"/>
                <a:cs typeface="Arimo"/>
                <a:sym typeface="Arimo"/>
              </a:rPr>
              <a:t>Predictive Power</a:t>
            </a:r>
          </a:p>
        </p:txBody>
      </p:sp>
      <p:sp>
        <p:nvSpPr>
          <p:cNvPr name="TextBox 22" id="22"/>
          <p:cNvSpPr txBox="true"/>
          <p:nvPr/>
        </p:nvSpPr>
        <p:spPr>
          <a:xfrm rot="0">
            <a:off x="992238" y="6990902"/>
            <a:ext cx="5298577" cy="992981"/>
          </a:xfrm>
          <a:prstGeom prst="rect">
            <a:avLst/>
          </a:prstGeom>
        </p:spPr>
        <p:txBody>
          <a:bodyPr anchor="t" rtlCol="false" tIns="0" lIns="0" bIns="0" rIns="0">
            <a:spAutoFit/>
          </a:bodyPr>
          <a:lstStyle/>
          <a:p>
            <a:pPr algn="r">
              <a:lnSpc>
                <a:spcPts val="3562"/>
              </a:lnSpc>
            </a:pPr>
            <a:r>
              <a:rPr lang="en-US" sz="2187">
                <a:solidFill>
                  <a:srgbClr val="E0D6DE"/>
                </a:solidFill>
                <a:latin typeface="Noto Sans"/>
                <a:ea typeface="Noto Sans"/>
                <a:cs typeface="Noto Sans"/>
                <a:sym typeface="Noto Sans"/>
              </a:rPr>
              <a:t>Forecasts index movements from peer signals</a:t>
            </a:r>
          </a:p>
        </p:txBody>
      </p:sp>
      <p:grpSp>
        <p:nvGrpSpPr>
          <p:cNvPr name="Group 23" id="23"/>
          <p:cNvGrpSpPr/>
          <p:nvPr/>
        </p:nvGrpSpPr>
        <p:grpSpPr>
          <a:xfrm rot="0">
            <a:off x="6290815" y="2837859"/>
            <a:ext cx="5706218" cy="5706218"/>
            <a:chOff x="0" y="0"/>
            <a:chExt cx="7608291" cy="7608291"/>
          </a:xfrm>
        </p:grpSpPr>
        <p:sp>
          <p:nvSpPr>
            <p:cNvPr name="Freeform 24" id="24" descr="preencoded.png"/>
            <p:cNvSpPr/>
            <p:nvPr/>
          </p:nvSpPr>
          <p:spPr>
            <a:xfrm flipH="false" flipV="false" rot="0">
              <a:off x="0" y="0"/>
              <a:ext cx="7608316" cy="7608316"/>
            </a:xfrm>
            <a:custGeom>
              <a:avLst/>
              <a:gdLst/>
              <a:ahLst/>
              <a:cxnLst/>
              <a:rect r="r" b="b" t="t" l="l"/>
              <a:pathLst>
                <a:path h="7608316" w="7608316">
                  <a:moveTo>
                    <a:pt x="0" y="0"/>
                  </a:moveTo>
                  <a:lnTo>
                    <a:pt x="7608316" y="0"/>
                  </a:lnTo>
                  <a:lnTo>
                    <a:pt x="7608316" y="7608316"/>
                  </a:lnTo>
                  <a:lnTo>
                    <a:pt x="0" y="7608316"/>
                  </a:lnTo>
                  <a:lnTo>
                    <a:pt x="0" y="0"/>
                  </a:lnTo>
                  <a:close/>
                </a:path>
              </a:pathLst>
            </a:custGeom>
            <a:blipFill>
              <a:blip r:embed="rId13"/>
              <a:stretch>
                <a:fillRect l="0" t="0" r="0" b="0"/>
              </a:stretch>
            </a:blipFill>
          </p:spPr>
        </p:sp>
      </p:grpSp>
      <p:sp>
        <p:nvSpPr>
          <p:cNvPr name="Freeform 25" id="25" descr="preencoded.png"/>
          <p:cNvSpPr/>
          <p:nvPr/>
        </p:nvSpPr>
        <p:spPr>
          <a:xfrm flipH="false" flipV="false" rot="0">
            <a:off x="7905455" y="6530426"/>
            <a:ext cx="398707" cy="398707"/>
          </a:xfrm>
          <a:custGeom>
            <a:avLst/>
            <a:gdLst/>
            <a:ahLst/>
            <a:cxnLst/>
            <a:rect r="r" b="b" t="t" l="l"/>
            <a:pathLst>
              <a:path h="398707" w="398707">
                <a:moveTo>
                  <a:pt x="0" y="0"/>
                </a:moveTo>
                <a:lnTo>
                  <a:pt x="398707" y="0"/>
                </a:lnTo>
                <a:lnTo>
                  <a:pt x="398707" y="398707"/>
                </a:lnTo>
                <a:lnTo>
                  <a:pt x="0" y="398707"/>
                </a:lnTo>
                <a:lnTo>
                  <a:pt x="0" y="0"/>
                </a:lnTo>
                <a:close/>
              </a:path>
            </a:pathLst>
          </a:custGeom>
          <a:blipFill>
            <a:blip r:embed="rId14">
              <a:extLst>
                <a:ext uri="{96DAC541-7B7A-43D3-8B79-37D633B846F1}">
                  <asvg:svgBlip xmlns:asvg="http://schemas.microsoft.com/office/drawing/2016/SVG/main" r:embed="rId15"/>
                </a:ext>
              </a:extLst>
            </a:blip>
            <a:stretch>
              <a:fillRect l="-13096" t="0" r="-13093" b="0"/>
            </a:stretch>
          </a:blipFill>
        </p:spPr>
      </p:sp>
      <p:sp>
        <p:nvSpPr>
          <p:cNvPr name="TextBox 26" id="26"/>
          <p:cNvSpPr txBox="true"/>
          <p:nvPr/>
        </p:nvSpPr>
        <p:spPr>
          <a:xfrm rot="0">
            <a:off x="992238" y="8777287"/>
            <a:ext cx="16303523" cy="539353"/>
          </a:xfrm>
          <a:prstGeom prst="rect">
            <a:avLst/>
          </a:prstGeom>
        </p:spPr>
        <p:txBody>
          <a:bodyPr anchor="t" rtlCol="false" tIns="0" lIns="0" bIns="0" rIns="0">
            <a:spAutoFit/>
          </a:bodyPr>
          <a:lstStyle/>
          <a:p>
            <a:pPr algn="l">
              <a:lnSpc>
                <a:spcPts val="3562"/>
              </a:lnSpc>
            </a:pPr>
            <a:r>
              <a:rPr lang="en-US" sz="2187">
                <a:solidFill>
                  <a:srgbClr val="E0D6DE"/>
                </a:solidFill>
                <a:latin typeface="Noto Sans"/>
                <a:ea typeface="Noto Sans"/>
                <a:cs typeface="Noto Sans"/>
                <a:sym typeface="Noto Sans"/>
              </a:rPr>
              <a:t>Stocks do not move in isolation—this branch captures sector-wide dynamics for enhanced predictive accuracy.</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07070C"/>
            </a:solidFill>
          </p:spPr>
        </p:sp>
      </p:grpSp>
      <p:sp>
        <p:nvSpPr>
          <p:cNvPr name="TextBox 6" id="6"/>
          <p:cNvSpPr txBox="true"/>
          <p:nvPr/>
        </p:nvSpPr>
        <p:spPr>
          <a:xfrm rot="0">
            <a:off x="992238" y="943870"/>
            <a:ext cx="9597476" cy="943127"/>
          </a:xfrm>
          <a:prstGeom prst="rect">
            <a:avLst/>
          </a:prstGeom>
        </p:spPr>
        <p:txBody>
          <a:bodyPr anchor="t" rtlCol="false" tIns="0" lIns="0" bIns="0" rIns="0">
            <a:spAutoFit/>
          </a:bodyPr>
          <a:lstStyle/>
          <a:p>
            <a:pPr algn="l">
              <a:lnSpc>
                <a:spcPts val="6937"/>
              </a:lnSpc>
            </a:pPr>
            <a:r>
              <a:rPr lang="en-US" sz="5562">
                <a:solidFill>
                  <a:srgbClr val="97B8FF"/>
                </a:solidFill>
                <a:latin typeface="Arimo"/>
                <a:ea typeface="Arimo"/>
                <a:cs typeface="Arimo"/>
                <a:sym typeface="Arimo"/>
              </a:rPr>
              <a:t>Branch E: Sentiment &amp; Risk</a:t>
            </a:r>
          </a:p>
        </p:txBody>
      </p:sp>
      <p:sp>
        <p:nvSpPr>
          <p:cNvPr name="TextBox 7" id="7"/>
          <p:cNvSpPr txBox="true"/>
          <p:nvPr/>
        </p:nvSpPr>
        <p:spPr>
          <a:xfrm rot="0">
            <a:off x="992238" y="1962302"/>
            <a:ext cx="8221713" cy="481012"/>
          </a:xfrm>
          <a:prstGeom prst="rect">
            <a:avLst/>
          </a:prstGeom>
        </p:spPr>
        <p:txBody>
          <a:bodyPr anchor="t" rtlCol="false" tIns="0" lIns="0" bIns="0" rIns="0">
            <a:spAutoFit/>
          </a:bodyPr>
          <a:lstStyle/>
          <a:p>
            <a:pPr algn="l">
              <a:lnSpc>
                <a:spcPts val="3437"/>
              </a:lnSpc>
            </a:pPr>
            <a:r>
              <a:rPr lang="en-US" sz="2750">
                <a:solidFill>
                  <a:srgbClr val="97B8FF"/>
                </a:solidFill>
                <a:latin typeface="Arimo"/>
                <a:ea typeface="Arimo"/>
                <a:cs typeface="Arimo"/>
                <a:sym typeface="Arimo"/>
              </a:rPr>
              <a:t>Off-Policy PPO + FinBERT for Imbalanced Data</a:t>
            </a:r>
          </a:p>
        </p:txBody>
      </p:sp>
      <p:grpSp>
        <p:nvGrpSpPr>
          <p:cNvPr name="Group 8" id="8"/>
          <p:cNvGrpSpPr/>
          <p:nvPr/>
        </p:nvGrpSpPr>
        <p:grpSpPr>
          <a:xfrm rot="0">
            <a:off x="992238" y="3187456"/>
            <a:ext cx="10355161" cy="5779589"/>
            <a:chOff x="0" y="0"/>
            <a:chExt cx="13806881" cy="7706119"/>
          </a:xfrm>
        </p:grpSpPr>
        <p:sp>
          <p:nvSpPr>
            <p:cNvPr name="Freeform 9" id="9" descr="preencoded.png"/>
            <p:cNvSpPr/>
            <p:nvPr/>
          </p:nvSpPr>
          <p:spPr>
            <a:xfrm flipH="false" flipV="false" rot="0">
              <a:off x="0" y="0"/>
              <a:ext cx="13806932" cy="7706106"/>
            </a:xfrm>
            <a:custGeom>
              <a:avLst/>
              <a:gdLst/>
              <a:ahLst/>
              <a:cxnLst/>
              <a:rect r="r" b="b" t="t" l="l"/>
              <a:pathLst>
                <a:path h="7706106" w="13806932">
                  <a:moveTo>
                    <a:pt x="0" y="0"/>
                  </a:moveTo>
                  <a:lnTo>
                    <a:pt x="13806932" y="0"/>
                  </a:lnTo>
                  <a:lnTo>
                    <a:pt x="13806932" y="7706106"/>
                  </a:lnTo>
                  <a:lnTo>
                    <a:pt x="0" y="7706106"/>
                  </a:lnTo>
                  <a:lnTo>
                    <a:pt x="0" y="0"/>
                  </a:lnTo>
                  <a:close/>
                </a:path>
              </a:pathLst>
            </a:custGeom>
            <a:blipFill>
              <a:blip r:embed="rId4"/>
              <a:stretch>
                <a:fillRect l="0" t="-25" r="0" b="-25"/>
              </a:stretch>
            </a:blipFill>
          </p:spPr>
        </p:sp>
      </p:grpSp>
      <p:sp>
        <p:nvSpPr>
          <p:cNvPr name="TextBox 10" id="10"/>
          <p:cNvSpPr txBox="true"/>
          <p:nvPr/>
        </p:nvSpPr>
        <p:spPr>
          <a:xfrm rot="0">
            <a:off x="12048677" y="3122714"/>
            <a:ext cx="3544043" cy="481012"/>
          </a:xfrm>
          <a:prstGeom prst="rect">
            <a:avLst/>
          </a:prstGeom>
        </p:spPr>
        <p:txBody>
          <a:bodyPr anchor="t" rtlCol="false" tIns="0" lIns="0" bIns="0" rIns="0">
            <a:spAutoFit/>
          </a:bodyPr>
          <a:lstStyle/>
          <a:p>
            <a:pPr algn="l">
              <a:lnSpc>
                <a:spcPts val="3437"/>
              </a:lnSpc>
            </a:pPr>
            <a:r>
              <a:rPr lang="en-US" sz="2750">
                <a:solidFill>
                  <a:srgbClr val="97B8FF"/>
                </a:solidFill>
                <a:latin typeface="Arimo"/>
                <a:ea typeface="Arimo"/>
                <a:cs typeface="Arimo"/>
                <a:sym typeface="Arimo"/>
              </a:rPr>
              <a:t>The Challenge</a:t>
            </a:r>
          </a:p>
        </p:txBody>
      </p:sp>
      <p:sp>
        <p:nvSpPr>
          <p:cNvPr name="TextBox 11" id="11"/>
          <p:cNvSpPr txBox="true"/>
          <p:nvPr/>
        </p:nvSpPr>
        <p:spPr>
          <a:xfrm rot="0">
            <a:off x="12048677" y="3801513"/>
            <a:ext cx="5256457" cy="1446609"/>
          </a:xfrm>
          <a:prstGeom prst="rect">
            <a:avLst/>
          </a:prstGeom>
        </p:spPr>
        <p:txBody>
          <a:bodyPr anchor="t" rtlCol="false" tIns="0" lIns="0" bIns="0" rIns="0">
            <a:spAutoFit/>
          </a:bodyPr>
          <a:lstStyle/>
          <a:p>
            <a:pPr algn="l">
              <a:lnSpc>
                <a:spcPts val="3562"/>
              </a:lnSpc>
            </a:pPr>
            <a:r>
              <a:rPr lang="en-US" sz="2187">
                <a:solidFill>
                  <a:srgbClr val="E0D6DE"/>
                </a:solidFill>
                <a:latin typeface="Noto Sans"/>
                <a:ea typeface="Noto Sans"/>
                <a:cs typeface="Noto Sans"/>
                <a:sym typeface="Noto Sans"/>
              </a:rPr>
              <a:t>Financial news suffers from imbalanced classification—mostly neutral/positive with rare crash signals.</a:t>
            </a:r>
          </a:p>
        </p:txBody>
      </p:sp>
      <p:sp>
        <p:nvSpPr>
          <p:cNvPr name="TextBox 12" id="12"/>
          <p:cNvSpPr txBox="true"/>
          <p:nvPr/>
        </p:nvSpPr>
        <p:spPr>
          <a:xfrm rot="0">
            <a:off x="12048677" y="5493544"/>
            <a:ext cx="3544043" cy="481012"/>
          </a:xfrm>
          <a:prstGeom prst="rect">
            <a:avLst/>
          </a:prstGeom>
        </p:spPr>
        <p:txBody>
          <a:bodyPr anchor="t" rtlCol="false" tIns="0" lIns="0" bIns="0" rIns="0">
            <a:spAutoFit/>
          </a:bodyPr>
          <a:lstStyle/>
          <a:p>
            <a:pPr algn="l">
              <a:lnSpc>
                <a:spcPts val="3437"/>
              </a:lnSpc>
            </a:pPr>
            <a:r>
              <a:rPr lang="en-US" sz="2750">
                <a:solidFill>
                  <a:srgbClr val="97B8FF"/>
                </a:solidFill>
                <a:latin typeface="Arimo"/>
                <a:ea typeface="Arimo"/>
                <a:cs typeface="Arimo"/>
                <a:sym typeface="Arimo"/>
              </a:rPr>
              <a:t>Our Solution</a:t>
            </a:r>
          </a:p>
        </p:txBody>
      </p:sp>
      <p:sp>
        <p:nvSpPr>
          <p:cNvPr name="TextBox 13" id="13"/>
          <p:cNvSpPr txBox="true"/>
          <p:nvPr/>
        </p:nvSpPr>
        <p:spPr>
          <a:xfrm rot="0">
            <a:off x="12048677" y="6172352"/>
            <a:ext cx="5256457" cy="3005728"/>
          </a:xfrm>
          <a:prstGeom prst="rect">
            <a:avLst/>
          </a:prstGeom>
        </p:spPr>
        <p:txBody>
          <a:bodyPr anchor="t" rtlCol="false" tIns="0" lIns="0" bIns="0" rIns="0">
            <a:spAutoFit/>
          </a:bodyPr>
          <a:lstStyle/>
          <a:p>
            <a:pPr algn="l" marL="329902" indent="-164951" lvl="1">
              <a:lnSpc>
                <a:spcPts val="3562"/>
              </a:lnSpc>
              <a:buFont typeface="Arial"/>
              <a:buChar char="•"/>
            </a:pPr>
            <a:r>
              <a:rPr lang="en-US" b="true" sz="2187">
                <a:solidFill>
                  <a:srgbClr val="E0D6DE"/>
                </a:solidFill>
                <a:latin typeface="Noto Sans Bold"/>
                <a:ea typeface="Noto Sans Bold"/>
                <a:cs typeface="Noto Sans Bold"/>
                <a:sym typeface="Noto Sans Bold"/>
              </a:rPr>
              <a:t>FinBERT</a:t>
            </a:r>
            <a:r>
              <a:rPr lang="en-US" sz="2187">
                <a:solidFill>
                  <a:srgbClr val="E0D6DE"/>
                </a:solidFill>
                <a:latin typeface="Noto Sans"/>
                <a:ea typeface="Noto Sans"/>
                <a:cs typeface="Noto Sans"/>
                <a:sym typeface="Noto Sans"/>
              </a:rPr>
              <a:t>: LLM trained on financial text</a:t>
            </a:r>
          </a:p>
          <a:p>
            <a:pPr algn="l" marL="329902" indent="-164951" lvl="1">
              <a:lnSpc>
                <a:spcPts val="3562"/>
              </a:lnSpc>
              <a:buFont typeface="Arial"/>
              <a:buChar char="•"/>
            </a:pPr>
            <a:r>
              <a:rPr lang="en-US" b="true" sz="2187">
                <a:solidFill>
                  <a:srgbClr val="E0D6DE"/>
                </a:solidFill>
                <a:latin typeface="Noto Sans Bold"/>
                <a:ea typeface="Noto Sans Bold"/>
                <a:cs typeface="Noto Sans Bold"/>
                <a:sym typeface="Noto Sans Bold"/>
              </a:rPr>
              <a:t>Off-Policy PPO</a:t>
            </a:r>
            <a:r>
              <a:rPr lang="en-US" sz="2187">
                <a:solidFill>
                  <a:srgbClr val="E0D6DE"/>
                </a:solidFill>
                <a:latin typeface="Noto Sans"/>
                <a:ea typeface="Noto Sans"/>
                <a:cs typeface="Noto Sans"/>
                <a:sym typeface="Noto Sans"/>
              </a:rPr>
              <a:t>: Higher rewards for rare minority class</a:t>
            </a:r>
          </a:p>
          <a:p>
            <a:pPr algn="l" marL="329902" indent="-164951" lvl="1">
              <a:lnSpc>
                <a:spcPts val="3562"/>
              </a:lnSpc>
              <a:buFont typeface="Arial"/>
              <a:buChar char="•"/>
            </a:pPr>
            <a:r>
              <a:rPr lang="en-US" b="true" sz="2187">
                <a:solidFill>
                  <a:srgbClr val="E0D6DE"/>
                </a:solidFill>
                <a:latin typeface="Noto Sans Bold"/>
                <a:ea typeface="Noto Sans Bold"/>
                <a:cs typeface="Noto Sans Bold"/>
                <a:sym typeface="Noto Sans Bold"/>
              </a:rPr>
              <a:t>Combo Loss (CL)</a:t>
            </a:r>
            <a:r>
              <a:rPr lang="en-US" sz="2187">
                <a:solidFill>
                  <a:srgbClr val="E0D6DE"/>
                </a:solidFill>
                <a:latin typeface="Noto Sans"/>
                <a:ea typeface="Noto Sans"/>
                <a:cs typeface="Noto Sans"/>
                <a:sym typeface="Noto Sans"/>
              </a:rPr>
              <a:t>: Amplifies complex, rare samples</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07070C"/>
            </a:solidFill>
          </p:spPr>
        </p:sp>
      </p:grpSp>
      <p:sp>
        <p:nvSpPr>
          <p:cNvPr name="TextBox 6" id="6"/>
          <p:cNvSpPr txBox="true"/>
          <p:nvPr/>
        </p:nvSpPr>
        <p:spPr>
          <a:xfrm rot="0">
            <a:off x="992238" y="2482158"/>
            <a:ext cx="8854078" cy="943127"/>
          </a:xfrm>
          <a:prstGeom prst="rect">
            <a:avLst/>
          </a:prstGeom>
        </p:spPr>
        <p:txBody>
          <a:bodyPr anchor="t" rtlCol="false" tIns="0" lIns="0" bIns="0" rIns="0">
            <a:spAutoFit/>
          </a:bodyPr>
          <a:lstStyle/>
          <a:p>
            <a:pPr algn="l">
              <a:lnSpc>
                <a:spcPts val="6937"/>
              </a:lnSpc>
            </a:pPr>
            <a:r>
              <a:rPr lang="en-US" sz="5562">
                <a:solidFill>
                  <a:srgbClr val="97B8FF"/>
                </a:solidFill>
                <a:latin typeface="Arimo"/>
                <a:ea typeface="Arimo"/>
                <a:cs typeface="Arimo"/>
                <a:sym typeface="Arimo"/>
              </a:rPr>
              <a:t>Future Evolution: Phase 1</a:t>
            </a:r>
          </a:p>
        </p:txBody>
      </p:sp>
      <p:sp>
        <p:nvSpPr>
          <p:cNvPr name="TextBox 7" id="7"/>
          <p:cNvSpPr txBox="true"/>
          <p:nvPr/>
        </p:nvSpPr>
        <p:spPr>
          <a:xfrm rot="0">
            <a:off x="992238" y="3887543"/>
            <a:ext cx="283521" cy="459134"/>
          </a:xfrm>
          <a:prstGeom prst="rect">
            <a:avLst/>
          </a:prstGeom>
        </p:spPr>
        <p:txBody>
          <a:bodyPr anchor="t" rtlCol="false" tIns="0" lIns="0" bIns="0" rIns="0">
            <a:spAutoFit/>
          </a:bodyPr>
          <a:lstStyle/>
          <a:p>
            <a:pPr algn="l">
              <a:lnSpc>
                <a:spcPts val="3562"/>
              </a:lnSpc>
            </a:pPr>
            <a:r>
              <a:rPr lang="en-US" sz="2187">
                <a:solidFill>
                  <a:srgbClr val="E0D6DE"/>
                </a:solidFill>
                <a:latin typeface="Arimo"/>
                <a:ea typeface="Arimo"/>
                <a:cs typeface="Arimo"/>
                <a:sym typeface="Arimo"/>
              </a:rPr>
              <a:t>01</a:t>
            </a:r>
          </a:p>
        </p:txBody>
      </p:sp>
      <p:grpSp>
        <p:nvGrpSpPr>
          <p:cNvPr name="Group 8" id="8"/>
          <p:cNvGrpSpPr/>
          <p:nvPr/>
        </p:nvGrpSpPr>
        <p:grpSpPr>
          <a:xfrm rot="0">
            <a:off x="992238" y="4436116"/>
            <a:ext cx="5245446" cy="38100"/>
            <a:chOff x="0" y="0"/>
            <a:chExt cx="6993928" cy="50800"/>
          </a:xfrm>
        </p:grpSpPr>
        <p:sp>
          <p:nvSpPr>
            <p:cNvPr name="Freeform 9" id="9" descr="preencoded.png"/>
            <p:cNvSpPr/>
            <p:nvPr/>
          </p:nvSpPr>
          <p:spPr>
            <a:xfrm flipH="false" flipV="false" rot="0">
              <a:off x="0" y="0"/>
              <a:ext cx="6993890" cy="50800"/>
            </a:xfrm>
            <a:custGeom>
              <a:avLst/>
              <a:gdLst/>
              <a:ahLst/>
              <a:cxnLst/>
              <a:rect r="r" b="b" t="t" l="l"/>
              <a:pathLst>
                <a:path h="50800" w="6993890">
                  <a:moveTo>
                    <a:pt x="0" y="0"/>
                  </a:moveTo>
                  <a:lnTo>
                    <a:pt x="6993890" y="0"/>
                  </a:lnTo>
                  <a:lnTo>
                    <a:pt x="6993890" y="50800"/>
                  </a:lnTo>
                  <a:lnTo>
                    <a:pt x="0" y="50800"/>
                  </a:lnTo>
                  <a:lnTo>
                    <a:pt x="0" y="0"/>
                  </a:lnTo>
                  <a:close/>
                </a:path>
              </a:pathLst>
            </a:custGeom>
            <a:blipFill>
              <a:blip r:embed="rId4"/>
              <a:stretch>
                <a:fillRect l="-26" t="0" r="-27" b="0"/>
              </a:stretch>
            </a:blipFill>
          </p:spPr>
        </p:sp>
      </p:grpSp>
      <p:sp>
        <p:nvSpPr>
          <p:cNvPr name="TextBox 10" id="10"/>
          <p:cNvSpPr txBox="true"/>
          <p:nvPr/>
        </p:nvSpPr>
        <p:spPr>
          <a:xfrm rot="0">
            <a:off x="992238" y="4615901"/>
            <a:ext cx="4569028" cy="481012"/>
          </a:xfrm>
          <a:prstGeom prst="rect">
            <a:avLst/>
          </a:prstGeom>
        </p:spPr>
        <p:txBody>
          <a:bodyPr anchor="t" rtlCol="false" tIns="0" lIns="0" bIns="0" rIns="0">
            <a:spAutoFit/>
          </a:bodyPr>
          <a:lstStyle/>
          <a:p>
            <a:pPr algn="l">
              <a:lnSpc>
                <a:spcPts val="3437"/>
              </a:lnSpc>
            </a:pPr>
            <a:r>
              <a:rPr lang="en-US" sz="2750">
                <a:solidFill>
                  <a:srgbClr val="E0D6DE"/>
                </a:solidFill>
                <a:latin typeface="Arimo"/>
                <a:ea typeface="Arimo"/>
                <a:cs typeface="Arimo"/>
                <a:sym typeface="Arimo"/>
              </a:rPr>
              <a:t>Generative AI Integration</a:t>
            </a:r>
          </a:p>
        </p:txBody>
      </p:sp>
      <p:sp>
        <p:nvSpPr>
          <p:cNvPr name="TextBox 11" id="11"/>
          <p:cNvSpPr txBox="true"/>
          <p:nvPr/>
        </p:nvSpPr>
        <p:spPr>
          <a:xfrm rot="0">
            <a:off x="992238" y="5181305"/>
            <a:ext cx="5245446" cy="2353866"/>
          </a:xfrm>
          <a:prstGeom prst="rect">
            <a:avLst/>
          </a:prstGeom>
        </p:spPr>
        <p:txBody>
          <a:bodyPr anchor="t" rtlCol="false" tIns="0" lIns="0" bIns="0" rIns="0">
            <a:spAutoFit/>
          </a:bodyPr>
          <a:lstStyle/>
          <a:p>
            <a:pPr algn="l">
              <a:lnSpc>
                <a:spcPts val="3562"/>
              </a:lnSpc>
            </a:pPr>
            <a:r>
              <a:rPr lang="en-US" sz="2187">
                <a:solidFill>
                  <a:srgbClr val="E0D6DE"/>
                </a:solidFill>
                <a:latin typeface="Noto Sans"/>
                <a:ea typeface="Noto Sans"/>
                <a:cs typeface="Noto Sans"/>
                <a:sym typeface="Noto Sans"/>
              </a:rPr>
              <a:t>Incorporate GPT-3, GPT-4, and FinGPT to process unstructured text, summarize SEC filings, and generate qualitative forecasts from macroeconomic prompts</a:t>
            </a:r>
          </a:p>
        </p:txBody>
      </p:sp>
      <p:sp>
        <p:nvSpPr>
          <p:cNvPr name="TextBox 12" id="12"/>
          <p:cNvSpPr txBox="true"/>
          <p:nvPr/>
        </p:nvSpPr>
        <p:spPr>
          <a:xfrm rot="0">
            <a:off x="6521206" y="3887543"/>
            <a:ext cx="283521" cy="459134"/>
          </a:xfrm>
          <a:prstGeom prst="rect">
            <a:avLst/>
          </a:prstGeom>
        </p:spPr>
        <p:txBody>
          <a:bodyPr anchor="t" rtlCol="false" tIns="0" lIns="0" bIns="0" rIns="0">
            <a:spAutoFit/>
          </a:bodyPr>
          <a:lstStyle/>
          <a:p>
            <a:pPr algn="l">
              <a:lnSpc>
                <a:spcPts val="3562"/>
              </a:lnSpc>
            </a:pPr>
            <a:r>
              <a:rPr lang="en-US" sz="2187">
                <a:solidFill>
                  <a:srgbClr val="E0D6DE"/>
                </a:solidFill>
                <a:latin typeface="Arimo"/>
                <a:ea typeface="Arimo"/>
                <a:cs typeface="Arimo"/>
                <a:sym typeface="Arimo"/>
              </a:rPr>
              <a:t>02</a:t>
            </a:r>
          </a:p>
        </p:txBody>
      </p:sp>
      <p:grpSp>
        <p:nvGrpSpPr>
          <p:cNvPr name="Group 13" id="13"/>
          <p:cNvGrpSpPr/>
          <p:nvPr/>
        </p:nvGrpSpPr>
        <p:grpSpPr>
          <a:xfrm rot="0">
            <a:off x="6521206" y="4464396"/>
            <a:ext cx="5245446" cy="38100"/>
            <a:chOff x="0" y="0"/>
            <a:chExt cx="6993928" cy="50800"/>
          </a:xfrm>
        </p:grpSpPr>
        <p:sp>
          <p:nvSpPr>
            <p:cNvPr name="Freeform 14" id="14" descr="preencoded.png"/>
            <p:cNvSpPr/>
            <p:nvPr/>
          </p:nvSpPr>
          <p:spPr>
            <a:xfrm flipH="false" flipV="false" rot="0">
              <a:off x="0" y="0"/>
              <a:ext cx="6993890" cy="50800"/>
            </a:xfrm>
            <a:custGeom>
              <a:avLst/>
              <a:gdLst/>
              <a:ahLst/>
              <a:cxnLst/>
              <a:rect r="r" b="b" t="t" l="l"/>
              <a:pathLst>
                <a:path h="50800" w="6993890">
                  <a:moveTo>
                    <a:pt x="0" y="0"/>
                  </a:moveTo>
                  <a:lnTo>
                    <a:pt x="6993890" y="0"/>
                  </a:lnTo>
                  <a:lnTo>
                    <a:pt x="6993890" y="50800"/>
                  </a:lnTo>
                  <a:lnTo>
                    <a:pt x="0" y="50800"/>
                  </a:lnTo>
                  <a:lnTo>
                    <a:pt x="0" y="0"/>
                  </a:lnTo>
                  <a:close/>
                </a:path>
              </a:pathLst>
            </a:custGeom>
            <a:blipFill>
              <a:blip r:embed="rId4"/>
              <a:stretch>
                <a:fillRect l="-26" t="0" r="-27" b="0"/>
              </a:stretch>
            </a:blipFill>
          </p:spPr>
        </p:sp>
      </p:grpSp>
      <p:sp>
        <p:nvSpPr>
          <p:cNvPr name="TextBox 15" id="15"/>
          <p:cNvSpPr txBox="true"/>
          <p:nvPr/>
        </p:nvSpPr>
        <p:spPr>
          <a:xfrm rot="0">
            <a:off x="6521206" y="4615901"/>
            <a:ext cx="4503096" cy="481012"/>
          </a:xfrm>
          <a:prstGeom prst="rect">
            <a:avLst/>
          </a:prstGeom>
        </p:spPr>
        <p:txBody>
          <a:bodyPr anchor="t" rtlCol="false" tIns="0" lIns="0" bIns="0" rIns="0">
            <a:spAutoFit/>
          </a:bodyPr>
          <a:lstStyle/>
          <a:p>
            <a:pPr algn="l">
              <a:lnSpc>
                <a:spcPts val="3437"/>
              </a:lnSpc>
            </a:pPr>
            <a:r>
              <a:rPr lang="en-US" sz="2750">
                <a:solidFill>
                  <a:srgbClr val="E0D6DE"/>
                </a:solidFill>
                <a:latin typeface="Arimo"/>
                <a:ea typeface="Arimo"/>
                <a:cs typeface="Arimo"/>
                <a:sym typeface="Arimo"/>
              </a:rPr>
              <a:t>Alternative Data Streams</a:t>
            </a:r>
          </a:p>
        </p:txBody>
      </p:sp>
      <p:sp>
        <p:nvSpPr>
          <p:cNvPr name="TextBox 16" id="16"/>
          <p:cNvSpPr txBox="true"/>
          <p:nvPr/>
        </p:nvSpPr>
        <p:spPr>
          <a:xfrm rot="0">
            <a:off x="6521206" y="5181305"/>
            <a:ext cx="5245446" cy="1900237"/>
          </a:xfrm>
          <a:prstGeom prst="rect">
            <a:avLst/>
          </a:prstGeom>
        </p:spPr>
        <p:txBody>
          <a:bodyPr anchor="t" rtlCol="false" tIns="0" lIns="0" bIns="0" rIns="0">
            <a:spAutoFit/>
          </a:bodyPr>
          <a:lstStyle/>
          <a:p>
            <a:pPr algn="l">
              <a:lnSpc>
                <a:spcPts val="3562"/>
              </a:lnSpc>
            </a:pPr>
            <a:r>
              <a:rPr lang="en-US" sz="2187">
                <a:solidFill>
                  <a:srgbClr val="E0D6DE"/>
                </a:solidFill>
                <a:latin typeface="Noto Sans"/>
                <a:ea typeface="Noto Sans"/>
                <a:cs typeface="Noto Sans"/>
                <a:sym typeface="Noto Sans"/>
              </a:rPr>
              <a:t>Expand beyond social media to integrate macroeconomic indicators, specialized forums, blogs, and real-time news directly into the pipeline</a:t>
            </a:r>
          </a:p>
        </p:txBody>
      </p:sp>
      <p:sp>
        <p:nvSpPr>
          <p:cNvPr name="TextBox 17" id="17"/>
          <p:cNvSpPr txBox="true"/>
          <p:nvPr/>
        </p:nvSpPr>
        <p:spPr>
          <a:xfrm rot="0">
            <a:off x="12050163" y="3887543"/>
            <a:ext cx="283521" cy="459134"/>
          </a:xfrm>
          <a:prstGeom prst="rect">
            <a:avLst/>
          </a:prstGeom>
        </p:spPr>
        <p:txBody>
          <a:bodyPr anchor="t" rtlCol="false" tIns="0" lIns="0" bIns="0" rIns="0">
            <a:spAutoFit/>
          </a:bodyPr>
          <a:lstStyle/>
          <a:p>
            <a:pPr algn="l">
              <a:lnSpc>
                <a:spcPts val="3562"/>
              </a:lnSpc>
            </a:pPr>
            <a:r>
              <a:rPr lang="en-US" sz="2187">
                <a:solidFill>
                  <a:srgbClr val="E0D6DE"/>
                </a:solidFill>
                <a:latin typeface="Arimo"/>
                <a:ea typeface="Arimo"/>
                <a:cs typeface="Arimo"/>
                <a:sym typeface="Arimo"/>
              </a:rPr>
              <a:t>03</a:t>
            </a:r>
          </a:p>
        </p:txBody>
      </p:sp>
      <p:grpSp>
        <p:nvGrpSpPr>
          <p:cNvPr name="Group 18" id="18"/>
          <p:cNvGrpSpPr/>
          <p:nvPr/>
        </p:nvGrpSpPr>
        <p:grpSpPr>
          <a:xfrm rot="0">
            <a:off x="12050163" y="4464396"/>
            <a:ext cx="5245446" cy="38100"/>
            <a:chOff x="0" y="0"/>
            <a:chExt cx="6993928" cy="50800"/>
          </a:xfrm>
        </p:grpSpPr>
        <p:sp>
          <p:nvSpPr>
            <p:cNvPr name="Freeform 19" id="19" descr="preencoded.png"/>
            <p:cNvSpPr/>
            <p:nvPr/>
          </p:nvSpPr>
          <p:spPr>
            <a:xfrm flipH="false" flipV="false" rot="0">
              <a:off x="0" y="0"/>
              <a:ext cx="6993890" cy="50800"/>
            </a:xfrm>
            <a:custGeom>
              <a:avLst/>
              <a:gdLst/>
              <a:ahLst/>
              <a:cxnLst/>
              <a:rect r="r" b="b" t="t" l="l"/>
              <a:pathLst>
                <a:path h="50800" w="6993890">
                  <a:moveTo>
                    <a:pt x="0" y="0"/>
                  </a:moveTo>
                  <a:lnTo>
                    <a:pt x="6993890" y="0"/>
                  </a:lnTo>
                  <a:lnTo>
                    <a:pt x="6993890" y="50800"/>
                  </a:lnTo>
                  <a:lnTo>
                    <a:pt x="0" y="50800"/>
                  </a:lnTo>
                  <a:lnTo>
                    <a:pt x="0" y="0"/>
                  </a:lnTo>
                  <a:close/>
                </a:path>
              </a:pathLst>
            </a:custGeom>
            <a:blipFill>
              <a:blip r:embed="rId4"/>
              <a:stretch>
                <a:fillRect l="-26" t="0" r="-27" b="0"/>
              </a:stretch>
            </a:blipFill>
          </p:spPr>
        </p:sp>
      </p:grpSp>
      <p:sp>
        <p:nvSpPr>
          <p:cNvPr name="TextBox 20" id="20"/>
          <p:cNvSpPr txBox="true"/>
          <p:nvPr/>
        </p:nvSpPr>
        <p:spPr>
          <a:xfrm rot="0">
            <a:off x="12050163" y="4615901"/>
            <a:ext cx="3716093" cy="481012"/>
          </a:xfrm>
          <a:prstGeom prst="rect">
            <a:avLst/>
          </a:prstGeom>
        </p:spPr>
        <p:txBody>
          <a:bodyPr anchor="t" rtlCol="false" tIns="0" lIns="0" bIns="0" rIns="0">
            <a:spAutoFit/>
          </a:bodyPr>
          <a:lstStyle/>
          <a:p>
            <a:pPr algn="l">
              <a:lnSpc>
                <a:spcPts val="3437"/>
              </a:lnSpc>
            </a:pPr>
            <a:r>
              <a:rPr lang="en-US" sz="2750">
                <a:solidFill>
                  <a:srgbClr val="E0D6DE"/>
                </a:solidFill>
                <a:latin typeface="Arimo"/>
                <a:ea typeface="Arimo"/>
                <a:cs typeface="Arimo"/>
                <a:sym typeface="Arimo"/>
              </a:rPr>
              <a:t>Dynamic Adaptation</a:t>
            </a:r>
          </a:p>
        </p:txBody>
      </p:sp>
      <p:sp>
        <p:nvSpPr>
          <p:cNvPr name="TextBox 21" id="21"/>
          <p:cNvSpPr txBox="true"/>
          <p:nvPr/>
        </p:nvSpPr>
        <p:spPr>
          <a:xfrm rot="0">
            <a:off x="12050163" y="5181305"/>
            <a:ext cx="5245446" cy="1900237"/>
          </a:xfrm>
          <a:prstGeom prst="rect">
            <a:avLst/>
          </a:prstGeom>
        </p:spPr>
        <p:txBody>
          <a:bodyPr anchor="t" rtlCol="false" tIns="0" lIns="0" bIns="0" rIns="0">
            <a:spAutoFit/>
          </a:bodyPr>
          <a:lstStyle/>
          <a:p>
            <a:pPr algn="l">
              <a:lnSpc>
                <a:spcPts val="3562"/>
              </a:lnSpc>
            </a:pPr>
            <a:r>
              <a:rPr lang="en-US" sz="2187">
                <a:solidFill>
                  <a:srgbClr val="E0D6DE"/>
                </a:solidFill>
                <a:latin typeface="Noto Sans"/>
                <a:ea typeface="Noto Sans"/>
                <a:cs typeface="Noto Sans"/>
                <a:sym typeface="Noto Sans"/>
              </a:rPr>
              <a:t>Implement adaptive learning rates and specialized modules to detect and adapt to sudden market shocks through online learning mechanisms</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descr="preencoded.png"/>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07070C"/>
            </a:solidFill>
          </p:spPr>
        </p:sp>
      </p:grpSp>
      <p:grpSp>
        <p:nvGrpSpPr>
          <p:cNvPr name="Group 6" id="6"/>
          <p:cNvGrpSpPr/>
          <p:nvPr/>
        </p:nvGrpSpPr>
        <p:grpSpPr>
          <a:xfrm rot="0">
            <a:off x="0" y="0"/>
            <a:ext cx="6858000" cy="10287000"/>
            <a:chOff x="0" y="0"/>
            <a:chExt cx="9144000" cy="13716000"/>
          </a:xfrm>
        </p:grpSpPr>
        <p:sp>
          <p:nvSpPr>
            <p:cNvPr name="Freeform 7" id="7" descr="preencoded.png"/>
            <p:cNvSpPr/>
            <p:nvPr/>
          </p:nvSpPr>
          <p:spPr>
            <a:xfrm flipH="false" flipV="false" rot="0">
              <a:off x="0" y="0"/>
              <a:ext cx="9144000" cy="13716000"/>
            </a:xfrm>
            <a:custGeom>
              <a:avLst/>
              <a:gdLst/>
              <a:ahLst/>
              <a:cxnLst/>
              <a:rect r="r" b="b" t="t" l="l"/>
              <a:pathLst>
                <a:path h="13716000" w="9144000">
                  <a:moveTo>
                    <a:pt x="0" y="0"/>
                  </a:moveTo>
                  <a:lnTo>
                    <a:pt x="9144000" y="0"/>
                  </a:lnTo>
                  <a:lnTo>
                    <a:pt x="9144000" y="13716000"/>
                  </a:lnTo>
                  <a:lnTo>
                    <a:pt x="0" y="13716000"/>
                  </a:lnTo>
                  <a:lnTo>
                    <a:pt x="0" y="0"/>
                  </a:lnTo>
                  <a:close/>
                </a:path>
              </a:pathLst>
            </a:custGeom>
            <a:blipFill>
              <a:blip r:embed="rId4"/>
              <a:stretch>
                <a:fillRect l="0" t="0" r="0" b="0"/>
              </a:stretch>
            </a:blipFill>
          </p:spPr>
        </p:sp>
      </p:grpSp>
      <p:sp>
        <p:nvSpPr>
          <p:cNvPr name="TextBox 8" id="8"/>
          <p:cNvSpPr txBox="true"/>
          <p:nvPr/>
        </p:nvSpPr>
        <p:spPr>
          <a:xfrm rot="0">
            <a:off x="7850238" y="811854"/>
            <a:ext cx="8096698" cy="845048"/>
          </a:xfrm>
          <a:prstGeom prst="rect">
            <a:avLst/>
          </a:prstGeom>
        </p:spPr>
        <p:txBody>
          <a:bodyPr anchor="t" rtlCol="false" tIns="0" lIns="0" bIns="0" rIns="0">
            <a:spAutoFit/>
          </a:bodyPr>
          <a:lstStyle/>
          <a:p>
            <a:pPr algn="l">
              <a:lnSpc>
                <a:spcPts val="6249"/>
              </a:lnSpc>
            </a:pPr>
            <a:r>
              <a:rPr lang="en-US" sz="4999">
                <a:solidFill>
                  <a:srgbClr val="97B8FF"/>
                </a:solidFill>
                <a:latin typeface="Arimo"/>
                <a:ea typeface="Arimo"/>
                <a:cs typeface="Arimo"/>
                <a:sym typeface="Arimo"/>
              </a:rPr>
              <a:t>Future Evolution: Phase 2</a:t>
            </a:r>
          </a:p>
        </p:txBody>
      </p:sp>
      <p:grpSp>
        <p:nvGrpSpPr>
          <p:cNvPr name="Group 9" id="9"/>
          <p:cNvGrpSpPr/>
          <p:nvPr/>
        </p:nvGrpSpPr>
        <p:grpSpPr>
          <a:xfrm rot="0">
            <a:off x="7850238" y="2001288"/>
            <a:ext cx="4607871" cy="4379271"/>
            <a:chOff x="0" y="0"/>
            <a:chExt cx="6143828" cy="5839028"/>
          </a:xfrm>
        </p:grpSpPr>
        <p:sp>
          <p:nvSpPr>
            <p:cNvPr name="Freeform 10" id="10"/>
            <p:cNvSpPr/>
            <p:nvPr/>
          </p:nvSpPr>
          <p:spPr>
            <a:xfrm flipH="false" flipV="false" rot="0">
              <a:off x="0" y="0"/>
              <a:ext cx="6143879" cy="5839079"/>
            </a:xfrm>
            <a:custGeom>
              <a:avLst/>
              <a:gdLst/>
              <a:ahLst/>
              <a:cxnLst/>
              <a:rect r="r" b="b" t="t" l="l"/>
              <a:pathLst>
                <a:path h="5839079" w="6143879">
                  <a:moveTo>
                    <a:pt x="0" y="51054"/>
                  </a:moveTo>
                  <a:cubicBezTo>
                    <a:pt x="0" y="22860"/>
                    <a:pt x="22860" y="0"/>
                    <a:pt x="51054" y="0"/>
                  </a:cubicBezTo>
                  <a:lnTo>
                    <a:pt x="6092825" y="0"/>
                  </a:lnTo>
                  <a:cubicBezTo>
                    <a:pt x="6121019" y="0"/>
                    <a:pt x="6143879" y="22860"/>
                    <a:pt x="6143879" y="51054"/>
                  </a:cubicBezTo>
                  <a:lnTo>
                    <a:pt x="6143879" y="5788025"/>
                  </a:lnTo>
                  <a:cubicBezTo>
                    <a:pt x="6143879" y="5816219"/>
                    <a:pt x="6121019" y="5839079"/>
                    <a:pt x="6092825" y="5839079"/>
                  </a:cubicBezTo>
                  <a:lnTo>
                    <a:pt x="51054" y="5839079"/>
                  </a:lnTo>
                  <a:cubicBezTo>
                    <a:pt x="22860" y="5839079"/>
                    <a:pt x="0" y="5816219"/>
                    <a:pt x="0" y="5788025"/>
                  </a:cubicBezTo>
                  <a:close/>
                </a:path>
              </a:pathLst>
            </a:custGeom>
            <a:solidFill>
              <a:srgbClr val="26262B"/>
            </a:solidFill>
          </p:spPr>
        </p:sp>
      </p:grpSp>
      <p:grpSp>
        <p:nvGrpSpPr>
          <p:cNvPr name="Group 11" id="11"/>
          <p:cNvGrpSpPr/>
          <p:nvPr/>
        </p:nvGrpSpPr>
        <p:grpSpPr>
          <a:xfrm rot="0">
            <a:off x="8105327" y="2256387"/>
            <a:ext cx="765419" cy="765419"/>
            <a:chOff x="0" y="0"/>
            <a:chExt cx="1020559" cy="1020559"/>
          </a:xfrm>
        </p:grpSpPr>
        <p:sp>
          <p:nvSpPr>
            <p:cNvPr name="Freeform 12" id="12" descr="preencoded.png"/>
            <p:cNvSpPr/>
            <p:nvPr/>
          </p:nvSpPr>
          <p:spPr>
            <a:xfrm flipH="false" flipV="false" rot="0">
              <a:off x="0" y="0"/>
              <a:ext cx="1020572" cy="1020572"/>
            </a:xfrm>
            <a:custGeom>
              <a:avLst/>
              <a:gdLst/>
              <a:ahLst/>
              <a:cxnLst/>
              <a:rect r="r" b="b" t="t" l="l"/>
              <a:pathLst>
                <a:path h="1020572" w="1020572">
                  <a:moveTo>
                    <a:pt x="0" y="0"/>
                  </a:moveTo>
                  <a:lnTo>
                    <a:pt x="1020572" y="0"/>
                  </a:lnTo>
                  <a:lnTo>
                    <a:pt x="1020572" y="1020572"/>
                  </a:lnTo>
                  <a:lnTo>
                    <a:pt x="0" y="1020572"/>
                  </a:lnTo>
                  <a:lnTo>
                    <a:pt x="0" y="0"/>
                  </a:lnTo>
                  <a:close/>
                </a:path>
              </a:pathLst>
            </a:custGeom>
            <a:blipFill>
              <a:blip r:embed="rId5"/>
              <a:stretch>
                <a:fillRect l="0" t="0" r="1" b="1"/>
              </a:stretch>
            </a:blipFill>
          </p:spPr>
        </p:sp>
      </p:grpSp>
      <p:sp>
        <p:nvSpPr>
          <p:cNvPr name="Freeform 13" id="13" descr="preencoded.png"/>
          <p:cNvSpPr/>
          <p:nvPr/>
        </p:nvSpPr>
        <p:spPr>
          <a:xfrm flipH="false" flipV="false" rot="0">
            <a:off x="8315773" y="2466823"/>
            <a:ext cx="344386" cy="344386"/>
          </a:xfrm>
          <a:custGeom>
            <a:avLst/>
            <a:gdLst/>
            <a:ahLst/>
            <a:cxnLst/>
            <a:rect r="r" b="b" t="t" l="l"/>
            <a:pathLst>
              <a:path h="344386" w="344386">
                <a:moveTo>
                  <a:pt x="0" y="0"/>
                </a:moveTo>
                <a:lnTo>
                  <a:pt x="344386" y="0"/>
                </a:lnTo>
                <a:lnTo>
                  <a:pt x="344386" y="344385"/>
                </a:lnTo>
                <a:lnTo>
                  <a:pt x="0" y="344385"/>
                </a:lnTo>
                <a:lnTo>
                  <a:pt x="0" y="0"/>
                </a:lnTo>
                <a:close/>
              </a:path>
            </a:pathLst>
          </a:custGeom>
          <a:blipFill>
            <a:blip r:embed="rId6">
              <a:extLst>
                <a:ext uri="{96DAC541-7B7A-43D3-8B79-37D633B846F1}">
                  <asvg:svgBlip xmlns:asvg="http://schemas.microsoft.com/office/drawing/2016/SVG/main" r:embed="rId7"/>
                </a:ext>
              </a:extLst>
            </a:blip>
            <a:stretch>
              <a:fillRect l="-5404" t="0" r="-5407" b="0"/>
            </a:stretch>
          </a:blipFill>
        </p:spPr>
      </p:sp>
      <p:sp>
        <p:nvSpPr>
          <p:cNvPr name="TextBox 14" id="14"/>
          <p:cNvSpPr txBox="true"/>
          <p:nvPr/>
        </p:nvSpPr>
        <p:spPr>
          <a:xfrm rot="0">
            <a:off x="8105327" y="3222869"/>
            <a:ext cx="4097684" cy="825703"/>
          </a:xfrm>
          <a:prstGeom prst="rect">
            <a:avLst/>
          </a:prstGeom>
        </p:spPr>
        <p:txBody>
          <a:bodyPr anchor="t" rtlCol="false" tIns="0" lIns="0" bIns="0" rIns="0">
            <a:spAutoFit/>
          </a:bodyPr>
          <a:lstStyle/>
          <a:p>
            <a:pPr algn="l">
              <a:lnSpc>
                <a:spcPts val="3124"/>
              </a:lnSpc>
            </a:pPr>
            <a:r>
              <a:rPr lang="en-US" sz="2499">
                <a:solidFill>
                  <a:srgbClr val="E0D6DE"/>
                </a:solidFill>
                <a:latin typeface="Arimo"/>
                <a:ea typeface="Arimo"/>
                <a:cs typeface="Arimo"/>
                <a:sym typeface="Arimo"/>
              </a:rPr>
              <a:t>Advanced Relational Networks</a:t>
            </a:r>
          </a:p>
        </p:txBody>
      </p:sp>
      <p:sp>
        <p:nvSpPr>
          <p:cNvPr name="TextBox 15" id="15"/>
          <p:cNvSpPr txBox="true"/>
          <p:nvPr/>
        </p:nvSpPr>
        <p:spPr>
          <a:xfrm rot="0">
            <a:off x="8105327" y="4119563"/>
            <a:ext cx="4097684" cy="2005908"/>
          </a:xfrm>
          <a:prstGeom prst="rect">
            <a:avLst/>
          </a:prstGeom>
        </p:spPr>
        <p:txBody>
          <a:bodyPr anchor="t" rtlCol="false" tIns="0" lIns="0" bIns="0" rIns="0">
            <a:spAutoFit/>
          </a:bodyPr>
          <a:lstStyle/>
          <a:p>
            <a:pPr algn="l">
              <a:lnSpc>
                <a:spcPts val="3000"/>
              </a:lnSpc>
            </a:pPr>
            <a:r>
              <a:rPr lang="en-US" sz="2000">
                <a:solidFill>
                  <a:srgbClr val="E0D6DE"/>
                </a:solidFill>
                <a:latin typeface="Noto Sans"/>
                <a:ea typeface="Noto Sans"/>
                <a:cs typeface="Noto Sans"/>
                <a:sym typeface="Noto Sans"/>
              </a:rPr>
              <a:t>Move beyond intra-sector linkages to study dynamic, time-evolving relations and inter-sector connections (e.g., IT sector's influence on Banking)</a:t>
            </a:r>
          </a:p>
        </p:txBody>
      </p:sp>
      <p:grpSp>
        <p:nvGrpSpPr>
          <p:cNvPr name="Group 16" id="16"/>
          <p:cNvGrpSpPr/>
          <p:nvPr/>
        </p:nvGrpSpPr>
        <p:grpSpPr>
          <a:xfrm rot="0">
            <a:off x="12687748" y="2001288"/>
            <a:ext cx="4608014" cy="4379271"/>
            <a:chOff x="0" y="0"/>
            <a:chExt cx="6144019" cy="5839028"/>
          </a:xfrm>
        </p:grpSpPr>
        <p:sp>
          <p:nvSpPr>
            <p:cNvPr name="Freeform 17" id="17"/>
            <p:cNvSpPr/>
            <p:nvPr/>
          </p:nvSpPr>
          <p:spPr>
            <a:xfrm flipH="false" flipV="false" rot="0">
              <a:off x="0" y="0"/>
              <a:ext cx="6144006" cy="5839079"/>
            </a:xfrm>
            <a:custGeom>
              <a:avLst/>
              <a:gdLst/>
              <a:ahLst/>
              <a:cxnLst/>
              <a:rect r="r" b="b" t="t" l="l"/>
              <a:pathLst>
                <a:path h="5839079" w="6144006">
                  <a:moveTo>
                    <a:pt x="0" y="51054"/>
                  </a:moveTo>
                  <a:cubicBezTo>
                    <a:pt x="0" y="22860"/>
                    <a:pt x="22860" y="0"/>
                    <a:pt x="51054" y="0"/>
                  </a:cubicBezTo>
                  <a:lnTo>
                    <a:pt x="6092952" y="0"/>
                  </a:lnTo>
                  <a:cubicBezTo>
                    <a:pt x="6121146" y="0"/>
                    <a:pt x="6144006" y="22860"/>
                    <a:pt x="6144006" y="51054"/>
                  </a:cubicBezTo>
                  <a:lnTo>
                    <a:pt x="6144006" y="5788025"/>
                  </a:lnTo>
                  <a:cubicBezTo>
                    <a:pt x="6144006" y="5816219"/>
                    <a:pt x="6121146" y="5839079"/>
                    <a:pt x="6092952" y="5839079"/>
                  </a:cubicBezTo>
                  <a:lnTo>
                    <a:pt x="51054" y="5839079"/>
                  </a:lnTo>
                  <a:cubicBezTo>
                    <a:pt x="22860" y="5839079"/>
                    <a:pt x="0" y="5816219"/>
                    <a:pt x="0" y="5788025"/>
                  </a:cubicBezTo>
                  <a:close/>
                </a:path>
              </a:pathLst>
            </a:custGeom>
            <a:solidFill>
              <a:srgbClr val="26262B"/>
            </a:solidFill>
          </p:spPr>
        </p:sp>
      </p:grpSp>
      <p:grpSp>
        <p:nvGrpSpPr>
          <p:cNvPr name="Group 18" id="18"/>
          <p:cNvGrpSpPr/>
          <p:nvPr/>
        </p:nvGrpSpPr>
        <p:grpSpPr>
          <a:xfrm rot="0">
            <a:off x="12942837" y="2256387"/>
            <a:ext cx="765419" cy="765419"/>
            <a:chOff x="0" y="0"/>
            <a:chExt cx="1020559" cy="1020559"/>
          </a:xfrm>
        </p:grpSpPr>
        <p:sp>
          <p:nvSpPr>
            <p:cNvPr name="Freeform 19" id="19" descr="preencoded.png"/>
            <p:cNvSpPr/>
            <p:nvPr/>
          </p:nvSpPr>
          <p:spPr>
            <a:xfrm flipH="false" flipV="false" rot="0">
              <a:off x="0" y="0"/>
              <a:ext cx="1020572" cy="1020572"/>
            </a:xfrm>
            <a:custGeom>
              <a:avLst/>
              <a:gdLst/>
              <a:ahLst/>
              <a:cxnLst/>
              <a:rect r="r" b="b" t="t" l="l"/>
              <a:pathLst>
                <a:path h="1020572" w="1020572">
                  <a:moveTo>
                    <a:pt x="0" y="0"/>
                  </a:moveTo>
                  <a:lnTo>
                    <a:pt x="1020572" y="0"/>
                  </a:lnTo>
                  <a:lnTo>
                    <a:pt x="1020572" y="1020572"/>
                  </a:lnTo>
                  <a:lnTo>
                    <a:pt x="0" y="1020572"/>
                  </a:lnTo>
                  <a:lnTo>
                    <a:pt x="0" y="0"/>
                  </a:lnTo>
                  <a:close/>
                </a:path>
              </a:pathLst>
            </a:custGeom>
            <a:blipFill>
              <a:blip r:embed="rId8"/>
              <a:stretch>
                <a:fillRect l="0" t="0" r="1" b="1"/>
              </a:stretch>
            </a:blipFill>
          </p:spPr>
        </p:sp>
      </p:grpSp>
      <p:sp>
        <p:nvSpPr>
          <p:cNvPr name="Freeform 20" id="20" descr="preencoded.png"/>
          <p:cNvSpPr/>
          <p:nvPr/>
        </p:nvSpPr>
        <p:spPr>
          <a:xfrm flipH="false" flipV="false" rot="0">
            <a:off x="13153282" y="2466823"/>
            <a:ext cx="344386" cy="344386"/>
          </a:xfrm>
          <a:custGeom>
            <a:avLst/>
            <a:gdLst/>
            <a:ahLst/>
            <a:cxnLst/>
            <a:rect r="r" b="b" t="t" l="l"/>
            <a:pathLst>
              <a:path h="344386" w="344386">
                <a:moveTo>
                  <a:pt x="0" y="0"/>
                </a:moveTo>
                <a:lnTo>
                  <a:pt x="344386" y="0"/>
                </a:lnTo>
                <a:lnTo>
                  <a:pt x="344386" y="344385"/>
                </a:lnTo>
                <a:lnTo>
                  <a:pt x="0" y="344385"/>
                </a:lnTo>
                <a:lnTo>
                  <a:pt x="0" y="0"/>
                </a:lnTo>
                <a:close/>
              </a:path>
            </a:pathLst>
          </a:custGeom>
          <a:blipFill>
            <a:blip r:embed="rId9">
              <a:extLst>
                <a:ext uri="{96DAC541-7B7A-43D3-8B79-37D633B846F1}">
                  <asvg:svgBlip xmlns:asvg="http://schemas.microsoft.com/office/drawing/2016/SVG/main" r:embed="rId10"/>
                </a:ext>
              </a:extLst>
            </a:blip>
            <a:stretch>
              <a:fillRect l="0" t="-8109" r="0" b="-8106"/>
            </a:stretch>
          </a:blipFill>
        </p:spPr>
      </p:sp>
      <p:sp>
        <p:nvSpPr>
          <p:cNvPr name="TextBox 21" id="21"/>
          <p:cNvSpPr txBox="true"/>
          <p:nvPr/>
        </p:nvSpPr>
        <p:spPr>
          <a:xfrm rot="0">
            <a:off x="12942837" y="3222869"/>
            <a:ext cx="4097836" cy="825703"/>
          </a:xfrm>
          <a:prstGeom prst="rect">
            <a:avLst/>
          </a:prstGeom>
        </p:spPr>
        <p:txBody>
          <a:bodyPr anchor="t" rtlCol="false" tIns="0" lIns="0" bIns="0" rIns="0">
            <a:spAutoFit/>
          </a:bodyPr>
          <a:lstStyle/>
          <a:p>
            <a:pPr algn="l">
              <a:lnSpc>
                <a:spcPts val="3124"/>
              </a:lnSpc>
            </a:pPr>
            <a:r>
              <a:rPr lang="en-US" sz="2499">
                <a:solidFill>
                  <a:srgbClr val="E0D6DE"/>
                </a:solidFill>
                <a:latin typeface="Arimo"/>
                <a:ea typeface="Arimo"/>
                <a:cs typeface="Arimo"/>
                <a:sym typeface="Arimo"/>
              </a:rPr>
              <a:t>Morphological Recognition</a:t>
            </a:r>
          </a:p>
        </p:txBody>
      </p:sp>
      <p:sp>
        <p:nvSpPr>
          <p:cNvPr name="TextBox 22" id="22"/>
          <p:cNvSpPr txBox="true"/>
          <p:nvPr/>
        </p:nvSpPr>
        <p:spPr>
          <a:xfrm rot="0">
            <a:off x="12942837" y="4119563"/>
            <a:ext cx="4097836" cy="1618059"/>
          </a:xfrm>
          <a:prstGeom prst="rect">
            <a:avLst/>
          </a:prstGeom>
        </p:spPr>
        <p:txBody>
          <a:bodyPr anchor="t" rtlCol="false" tIns="0" lIns="0" bIns="0" rIns="0">
            <a:spAutoFit/>
          </a:bodyPr>
          <a:lstStyle/>
          <a:p>
            <a:pPr algn="l">
              <a:lnSpc>
                <a:spcPts val="3000"/>
              </a:lnSpc>
            </a:pPr>
            <a:r>
              <a:rPr lang="en-US" sz="2000">
                <a:solidFill>
                  <a:srgbClr val="E0D6DE"/>
                </a:solidFill>
                <a:latin typeface="Noto Sans"/>
                <a:ea typeface="Noto Sans"/>
                <a:cs typeface="Noto Sans"/>
                <a:sym typeface="Noto Sans"/>
              </a:rPr>
              <a:t>Expand GAF-CNN visual vocabulary to identify complex patterns like "W-head M-bottom" beyond basic candlestick signals</a:t>
            </a:r>
          </a:p>
        </p:txBody>
      </p:sp>
      <p:grpSp>
        <p:nvGrpSpPr>
          <p:cNvPr name="Group 23" id="23"/>
          <p:cNvGrpSpPr/>
          <p:nvPr/>
        </p:nvGrpSpPr>
        <p:grpSpPr>
          <a:xfrm rot="0">
            <a:off x="7850238" y="6610198"/>
            <a:ext cx="9445523" cy="2817171"/>
            <a:chOff x="0" y="0"/>
            <a:chExt cx="12594031" cy="3756228"/>
          </a:xfrm>
        </p:grpSpPr>
        <p:sp>
          <p:nvSpPr>
            <p:cNvPr name="Freeform 24" id="24"/>
            <p:cNvSpPr/>
            <p:nvPr/>
          </p:nvSpPr>
          <p:spPr>
            <a:xfrm flipH="false" flipV="false" rot="0">
              <a:off x="0" y="0"/>
              <a:ext cx="12594082" cy="3756279"/>
            </a:xfrm>
            <a:custGeom>
              <a:avLst/>
              <a:gdLst/>
              <a:ahLst/>
              <a:cxnLst/>
              <a:rect r="r" b="b" t="t" l="l"/>
              <a:pathLst>
                <a:path h="3756279" w="12594082">
                  <a:moveTo>
                    <a:pt x="0" y="51054"/>
                  </a:moveTo>
                  <a:cubicBezTo>
                    <a:pt x="0" y="22860"/>
                    <a:pt x="22860" y="0"/>
                    <a:pt x="51054" y="0"/>
                  </a:cubicBezTo>
                  <a:lnTo>
                    <a:pt x="12543028" y="0"/>
                  </a:lnTo>
                  <a:cubicBezTo>
                    <a:pt x="12571222" y="0"/>
                    <a:pt x="12594082" y="22860"/>
                    <a:pt x="12594082" y="51054"/>
                  </a:cubicBezTo>
                  <a:lnTo>
                    <a:pt x="12594082" y="3705225"/>
                  </a:lnTo>
                  <a:cubicBezTo>
                    <a:pt x="12594082" y="3733419"/>
                    <a:pt x="12571222" y="3756279"/>
                    <a:pt x="12543028" y="3756279"/>
                  </a:cubicBezTo>
                  <a:lnTo>
                    <a:pt x="51054" y="3756279"/>
                  </a:lnTo>
                  <a:cubicBezTo>
                    <a:pt x="22860" y="3756279"/>
                    <a:pt x="0" y="3733419"/>
                    <a:pt x="0" y="3705225"/>
                  </a:cubicBezTo>
                  <a:close/>
                </a:path>
              </a:pathLst>
            </a:custGeom>
            <a:solidFill>
              <a:srgbClr val="26262B"/>
            </a:solidFill>
          </p:spPr>
        </p:sp>
      </p:grpSp>
      <p:grpSp>
        <p:nvGrpSpPr>
          <p:cNvPr name="Group 25" id="25"/>
          <p:cNvGrpSpPr/>
          <p:nvPr/>
        </p:nvGrpSpPr>
        <p:grpSpPr>
          <a:xfrm rot="0">
            <a:off x="8105327" y="6865296"/>
            <a:ext cx="765419" cy="765419"/>
            <a:chOff x="0" y="0"/>
            <a:chExt cx="1020559" cy="1020559"/>
          </a:xfrm>
        </p:grpSpPr>
        <p:sp>
          <p:nvSpPr>
            <p:cNvPr name="Freeform 26" id="26" descr="preencoded.png"/>
            <p:cNvSpPr/>
            <p:nvPr/>
          </p:nvSpPr>
          <p:spPr>
            <a:xfrm flipH="false" flipV="false" rot="0">
              <a:off x="0" y="0"/>
              <a:ext cx="1020572" cy="1020572"/>
            </a:xfrm>
            <a:custGeom>
              <a:avLst/>
              <a:gdLst/>
              <a:ahLst/>
              <a:cxnLst/>
              <a:rect r="r" b="b" t="t" l="l"/>
              <a:pathLst>
                <a:path h="1020572" w="1020572">
                  <a:moveTo>
                    <a:pt x="0" y="0"/>
                  </a:moveTo>
                  <a:lnTo>
                    <a:pt x="1020572" y="0"/>
                  </a:lnTo>
                  <a:lnTo>
                    <a:pt x="1020572" y="1020572"/>
                  </a:lnTo>
                  <a:lnTo>
                    <a:pt x="0" y="1020572"/>
                  </a:lnTo>
                  <a:lnTo>
                    <a:pt x="0" y="0"/>
                  </a:lnTo>
                  <a:close/>
                </a:path>
              </a:pathLst>
            </a:custGeom>
            <a:blipFill>
              <a:blip r:embed="rId11"/>
              <a:stretch>
                <a:fillRect l="0" t="0" r="1" b="1"/>
              </a:stretch>
            </a:blipFill>
          </p:spPr>
        </p:sp>
      </p:grpSp>
      <p:sp>
        <p:nvSpPr>
          <p:cNvPr name="Freeform 27" id="27" descr="preencoded.png"/>
          <p:cNvSpPr/>
          <p:nvPr/>
        </p:nvSpPr>
        <p:spPr>
          <a:xfrm flipH="false" flipV="false" rot="0">
            <a:off x="8315773" y="7075732"/>
            <a:ext cx="344386" cy="344386"/>
          </a:xfrm>
          <a:custGeom>
            <a:avLst/>
            <a:gdLst/>
            <a:ahLst/>
            <a:cxnLst/>
            <a:rect r="r" b="b" t="t" l="l"/>
            <a:pathLst>
              <a:path h="344386" w="344386">
                <a:moveTo>
                  <a:pt x="0" y="0"/>
                </a:moveTo>
                <a:lnTo>
                  <a:pt x="344386" y="0"/>
                </a:lnTo>
                <a:lnTo>
                  <a:pt x="344386" y="344386"/>
                </a:lnTo>
                <a:lnTo>
                  <a:pt x="0" y="344386"/>
                </a:lnTo>
                <a:lnTo>
                  <a:pt x="0" y="0"/>
                </a:lnTo>
                <a:close/>
              </a:path>
            </a:pathLst>
          </a:custGeom>
          <a:blipFill>
            <a:blip r:embed="rId12">
              <a:extLst>
                <a:ext uri="{96DAC541-7B7A-43D3-8B79-37D633B846F1}">
                  <asvg:svgBlip xmlns:asvg="http://schemas.microsoft.com/office/drawing/2016/SVG/main" r:embed="rId13"/>
                </a:ext>
              </a:extLst>
            </a:blip>
            <a:stretch>
              <a:fillRect l="0" t="-2702" r="0" b="-2704"/>
            </a:stretch>
          </a:blipFill>
        </p:spPr>
      </p:sp>
      <p:sp>
        <p:nvSpPr>
          <p:cNvPr name="TextBox 28" id="28"/>
          <p:cNvSpPr txBox="true"/>
          <p:nvPr/>
        </p:nvSpPr>
        <p:spPr>
          <a:xfrm rot="0">
            <a:off x="8105327" y="7831779"/>
            <a:ext cx="3189684" cy="427139"/>
          </a:xfrm>
          <a:prstGeom prst="rect">
            <a:avLst/>
          </a:prstGeom>
        </p:spPr>
        <p:txBody>
          <a:bodyPr anchor="t" rtlCol="false" tIns="0" lIns="0" bIns="0" rIns="0">
            <a:spAutoFit/>
          </a:bodyPr>
          <a:lstStyle/>
          <a:p>
            <a:pPr algn="l">
              <a:lnSpc>
                <a:spcPts val="3124"/>
              </a:lnSpc>
            </a:pPr>
            <a:r>
              <a:rPr lang="en-US" sz="2499">
                <a:solidFill>
                  <a:srgbClr val="E0D6DE"/>
                </a:solidFill>
                <a:latin typeface="Arimo"/>
                <a:ea typeface="Arimo"/>
                <a:cs typeface="Arimo"/>
                <a:sym typeface="Arimo"/>
              </a:rPr>
              <a:t>Interpretability</a:t>
            </a:r>
          </a:p>
        </p:txBody>
      </p:sp>
      <p:sp>
        <p:nvSpPr>
          <p:cNvPr name="TextBox 29" id="29"/>
          <p:cNvSpPr txBox="true"/>
          <p:nvPr/>
        </p:nvSpPr>
        <p:spPr>
          <a:xfrm rot="0">
            <a:off x="8105327" y="8329908"/>
            <a:ext cx="8935345" cy="842372"/>
          </a:xfrm>
          <a:prstGeom prst="rect">
            <a:avLst/>
          </a:prstGeom>
        </p:spPr>
        <p:txBody>
          <a:bodyPr anchor="t" rtlCol="false" tIns="0" lIns="0" bIns="0" rIns="0">
            <a:spAutoFit/>
          </a:bodyPr>
          <a:lstStyle/>
          <a:p>
            <a:pPr algn="l">
              <a:lnSpc>
                <a:spcPts val="3000"/>
              </a:lnSpc>
            </a:pPr>
            <a:r>
              <a:rPr lang="en-US" sz="2000">
                <a:solidFill>
                  <a:srgbClr val="E0D6DE"/>
                </a:solidFill>
                <a:latin typeface="Noto Sans"/>
                <a:ea typeface="Noto Sans"/>
                <a:cs typeface="Noto Sans"/>
                <a:sym typeface="Noto Sans"/>
              </a:rPr>
              <a:t>Develop attention-based explanations for human traders and implement advanced regularization to mitigate overfitting risks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DAHFBwe00Dk</dc:identifier>
  <dcterms:modified xsi:type="dcterms:W3CDTF">2011-08-01T06:04:30Z</dcterms:modified>
  <cp:revision>1</cp:revision>
  <dc:title>Multi-Branch-Deep-Learning-Trading-System.pptx</dc:title>
</cp:coreProperties>
</file>